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Start</c:v>
                </c:pt>
              </c:strCache>
            </c:strRef>
          </c:tx>
          <c:spPr>
            <a:solidFill>
              <a:srgbClr val="FFFFFF"/>
            </a:solidFill>
            <a:effectLst/>
          </c:spPr>
          <c:invertIfNegative val="0"/>
          <c:cat>
            <c:strRef>
              <c:f>Sheet1!$A$2:$A$12</c:f>
              <c:strCache>
                <c:ptCount val="11"/>
                <c:pt idx="0">
                  <c:v>P4: Prompt Mgmt UI</c:v>
                </c:pt>
                <c:pt idx="1">
                  <c:v>P4: AI Quality Scoring</c:v>
                </c:pt>
                <c:pt idx="2">
                  <c:v>P4: Feedback Loop</c:v>
                </c:pt>
                <c:pt idx="3">
                  <c:v>P4: Version Control</c:v>
                </c:pt>
                <c:pt idx="4">
                  <c:v>P4: Inline Editing</c:v>
                </c:pt>
                <c:pt idx="5">
                  <c:v>P5: Traceability</c:v>
                </c:pt>
                <c:pt idx="6">
                  <c:v>P5: Regression Impact</c:v>
                </c:pt>
                <c:pt idx="7">
                  <c:v>P5: RAG Indexing</c:v>
                </c:pt>
                <c:pt idx="8">
                  <c:v>P5: Multi-lang Output</c:v>
                </c:pt>
                <c:pt idx="9">
                  <c:v>P5: Analytics Dashboard</c:v>
                </c:pt>
                <c:pt idx="10">
                  <c:v>P5: Bulk Operations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0</c:v>
                </c:pt>
                <c:pt idx="6">
                  <c:v>2</c:v>
                </c:pt>
                <c:pt idx="7">
                  <c:v>4</c:v>
                </c:pt>
                <c:pt idx="8">
                  <c:v>6</c:v>
                </c:pt>
                <c:pt idx="9">
                  <c:v>7</c:v>
                </c:pt>
                <c:pt idx="10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F49-489A-B388-16091FABE9F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Phase 4</c:v>
                </c:pt>
              </c:strCache>
            </c:strRef>
          </c:tx>
          <c:spPr>
            <a:solidFill>
              <a:srgbClr val="1B2B5E"/>
            </a:solidFill>
            <a:effectLst/>
          </c:spPr>
          <c:invertIfNegative val="0"/>
          <c:cat>
            <c:strRef>
              <c:f>Sheet1!$A$2:$A$12</c:f>
              <c:strCache>
                <c:ptCount val="11"/>
                <c:pt idx="0">
                  <c:v>P4: Prompt Mgmt UI</c:v>
                </c:pt>
                <c:pt idx="1">
                  <c:v>P4: AI Quality Scoring</c:v>
                </c:pt>
                <c:pt idx="2">
                  <c:v>P4: Feedback Loop</c:v>
                </c:pt>
                <c:pt idx="3">
                  <c:v>P4: Version Control</c:v>
                </c:pt>
                <c:pt idx="4">
                  <c:v>P4: Inline Editing</c:v>
                </c:pt>
                <c:pt idx="5">
                  <c:v>P5: Traceability</c:v>
                </c:pt>
                <c:pt idx="6">
                  <c:v>P5: Regression Impact</c:v>
                </c:pt>
                <c:pt idx="7">
                  <c:v>P5: RAG Indexing</c:v>
                </c:pt>
                <c:pt idx="8">
                  <c:v>P5: Multi-lang Output</c:v>
                </c:pt>
                <c:pt idx="9">
                  <c:v>P5: Analytics Dashboard</c:v>
                </c:pt>
                <c:pt idx="10">
                  <c:v>P5: Bulk Operations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1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F49-489A-B388-16091FABE9F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Phase 5</c:v>
                </c:pt>
              </c:strCache>
            </c:strRef>
          </c:tx>
          <c:spPr>
            <a:solidFill>
              <a:srgbClr val="00897B"/>
            </a:solidFill>
            <a:effectLst/>
          </c:spPr>
          <c:invertIfNegative val="0"/>
          <c:cat>
            <c:strRef>
              <c:f>Sheet1!$A$2:$A$12</c:f>
              <c:strCache>
                <c:ptCount val="11"/>
                <c:pt idx="0">
                  <c:v>P4: Prompt Mgmt UI</c:v>
                </c:pt>
                <c:pt idx="1">
                  <c:v>P4: AI Quality Scoring</c:v>
                </c:pt>
                <c:pt idx="2">
                  <c:v>P4: Feedback Loop</c:v>
                </c:pt>
                <c:pt idx="3">
                  <c:v>P4: Version Control</c:v>
                </c:pt>
                <c:pt idx="4">
                  <c:v>P4: Inline Editing</c:v>
                </c:pt>
                <c:pt idx="5">
                  <c:v>P5: Traceability</c:v>
                </c:pt>
                <c:pt idx="6">
                  <c:v>P5: Regression Impact</c:v>
                </c:pt>
                <c:pt idx="7">
                  <c:v>P5: RAG Indexing</c:v>
                </c:pt>
                <c:pt idx="8">
                  <c:v>P5: Multi-lang Output</c:v>
                </c:pt>
                <c:pt idx="9">
                  <c:v>P5: Analytics Dashboard</c:v>
                </c:pt>
                <c:pt idx="10">
                  <c:v>P5: Bulk Operations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2</c:v>
                </c:pt>
                <c:pt idx="9">
                  <c:v>3</c:v>
                </c:pt>
                <c:pt idx="1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F49-489A-B388-16091FABE9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"/>
          <c:min val="0"/>
        </c:scaling>
        <c:delete val="0"/>
        <c:axPos val="b"/>
        <c:majorGridlines>
          <c:spPr>
            <a:ln w="6350" cap="flat">
              <a:solidFill>
                <a:srgbClr val="D1D9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5F7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3003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TraceLMs Cloud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046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&amp; 5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Plan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Quality &amp; Market Differentiators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3127248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24406E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1272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2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v0.1.0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371600" y="3127248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24406E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31272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2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24,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834640" y="3127248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24406E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31272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2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Tasks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977640" y="3127248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24406E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77640" y="31272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2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Phases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4663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E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Directors · Delivery Head · Product Managers · Country Head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value delivered by Phase 4 and Phase 5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18288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15568"/>
            <a:ext cx="2788920" cy="352044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15568"/>
            <a:ext cx="2788920" cy="512064"/>
          </a:xfrm>
          <a:prstGeom prst="roundRect">
            <a:avLst>
              <a:gd name="adj" fmla="val 21429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371600"/>
            <a:ext cx="2788920" cy="25603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33856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66420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Quality &amp; Prompt Management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07568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tasks · 13 High Priority · ~5 weeks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3134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in-browser prompt editing, AI quality scoring,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55117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feedback loops, version control, and inline test editing.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27889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QA teams direct control over LLM output quality.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18688" y="1115568"/>
            <a:ext cx="2788920" cy="352044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18688" y="1115568"/>
            <a:ext cx="2788920" cy="512064"/>
          </a:xfrm>
          <a:prstGeom prst="roundRect">
            <a:avLst>
              <a:gd name="adj" fmla="val 21429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18688" y="1371600"/>
            <a:ext cx="2788920" cy="2560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55848" y="1133856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55848" y="166420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Differentiators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55848" y="207568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tasks · 21 High Priority · ~10 weeks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55848" y="23134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Bi-directional traceability, RAG-powered search, regression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55848" y="255117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analysis, multi-language test output, analytics dashboard,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55848" y="27889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bulk operations — features no direct competitor offers today.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08192" y="1115568"/>
            <a:ext cx="2788920" cy="352044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08192" y="1115568"/>
            <a:ext cx="2788920" cy="512064"/>
          </a:xfrm>
          <a:prstGeom prst="roundRect">
            <a:avLst>
              <a:gd name="adj" fmla="val 21429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08192" y="1371600"/>
            <a:ext cx="2788920" cy="25603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45352" y="1133856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45352" y="166420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Strategic Outcome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45352" y="207568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total tasks across both phases.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45352" y="23134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TraceLMs Cloud from a generator into an AI-native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245352" y="255117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platform with full traceability, quality governance,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45352" y="27889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market-differentiating intelligence.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74320" y="4919472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TraceLMs Cloud  ·  v0.1.0  ·  Confidential  ·  June 24, 2026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686800" y="491947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at a Glance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&amp; 5 — combined task breakdown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18288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15568"/>
            <a:ext cx="1938528" cy="868680"/>
          </a:xfrm>
          <a:prstGeom prst="roundRect">
            <a:avLst>
              <a:gd name="adj" fmla="val 12632"/>
            </a:avLst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70432"/>
            <a:ext cx="1938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20040" y="1673352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Tasks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86584" y="1115568"/>
            <a:ext cx="1938528" cy="868680"/>
          </a:xfrm>
          <a:prstGeom prst="roundRect">
            <a:avLst>
              <a:gd name="adj" fmla="val 12632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86584" y="1170432"/>
            <a:ext cx="1938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386584" y="1673352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53128" y="1115568"/>
            <a:ext cx="1938528" cy="868680"/>
          </a:xfrm>
          <a:prstGeom prst="roundRect">
            <a:avLst>
              <a:gd name="adj" fmla="val 12632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53128" y="1170432"/>
            <a:ext cx="1938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453128" y="1673352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Priority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519672" y="1115568"/>
            <a:ext cx="1938528" cy="868680"/>
          </a:xfrm>
          <a:prstGeom prst="roundRect">
            <a:avLst>
              <a:gd name="adj" fmla="val 12632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9672" y="1170432"/>
            <a:ext cx="1938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519672" y="1673352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Effort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103120"/>
          <a:ext cx="8961120" cy="9398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Tasks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Priority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Priority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Priority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Effort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4 — AI Quality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 weeks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5 — Differentiators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 weeks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B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30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 weeks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320040" y="4617720"/>
            <a:ext cx="1005840" cy="201168"/>
          </a:xfrm>
          <a:prstGeom prst="roundRect">
            <a:avLst>
              <a:gd name="adj" fmla="val 27273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0040" y="46177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508760" y="4617720"/>
            <a:ext cx="1005840" cy="201168"/>
          </a:xfrm>
          <a:prstGeom prst="roundRect">
            <a:avLst>
              <a:gd name="adj" fmla="val 27273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508760" y="46177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2697480" y="4617720"/>
            <a:ext cx="1005840" cy="201168"/>
          </a:xfrm>
          <a:prstGeom prst="roundRect">
            <a:avLst>
              <a:gd name="adj" fmla="val 27273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697480" y="46177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3931920" y="463600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legend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274320" y="4919472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TraceLMs Cloud  ·  v0.1.0  ·  Confidential  ·  June 24, 2026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8686800" y="491947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E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1887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691640"/>
            <a:ext cx="8046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Quality &amp;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Management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31012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E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features · 24 tasks · ~5 weeks · Foundation for AI quality governance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840480"/>
            <a:ext cx="1572768" cy="320040"/>
          </a:xfrm>
          <a:prstGeom prst="roundRect">
            <a:avLst>
              <a:gd name="adj" fmla="val 22857"/>
            </a:avLst>
          </a:prstGeom>
          <a:solidFill>
            <a:srgbClr val="24406E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84048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2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Management UI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31136" y="3840480"/>
            <a:ext cx="1572768" cy="320040"/>
          </a:xfrm>
          <a:prstGeom prst="roundRect">
            <a:avLst>
              <a:gd name="adj" fmla="val 22857"/>
            </a:avLst>
          </a:prstGeom>
          <a:solidFill>
            <a:srgbClr val="24406E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31136" y="384048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2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Quality Scoring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913632" y="3840480"/>
            <a:ext cx="1572768" cy="320040"/>
          </a:xfrm>
          <a:prstGeom prst="roundRect">
            <a:avLst>
              <a:gd name="adj" fmla="val 22857"/>
            </a:avLst>
          </a:prstGeom>
          <a:solidFill>
            <a:srgbClr val="24406E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13632" y="384048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2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Feedback Loop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596128" y="3840480"/>
            <a:ext cx="1572768" cy="320040"/>
          </a:xfrm>
          <a:prstGeom prst="roundRect">
            <a:avLst>
              <a:gd name="adj" fmla="val 22857"/>
            </a:avLst>
          </a:prstGeom>
          <a:solidFill>
            <a:srgbClr val="24406E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96128" y="384048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2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Version Control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278624" y="3840480"/>
            <a:ext cx="1572768" cy="320040"/>
          </a:xfrm>
          <a:prstGeom prst="roundRect">
            <a:avLst>
              <a:gd name="adj" fmla="val 22857"/>
            </a:avLst>
          </a:prstGeom>
          <a:solidFill>
            <a:srgbClr val="24406E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78624" y="384048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2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Test Case Editing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Feature 1: Prompt Management UI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In-browser prompt editing — Week 1–2 · High Priority · 6 tasks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18288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97280"/>
          <a:ext cx="8046720" cy="3340608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Prisma PromptTemplate model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DB model for prompt templates per step (enhancement/scenarios/testcases/automation). Seed with current .txt contents.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/api/prompts route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all prompt templates grouped by step. Supports ?step= query param. Returns id, name, step, isDefault, isActive.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 /api/prompts/:id route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Updates content of a prompt template. Validates step enum. Returns updated record.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/api/prompts/reset/:id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Resets a template to its seed default (reads original .txt). Prevents loss of baseline prompt.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editor component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Frontend: CodeMirror-based editor in a new Prompts tab. Shows step selector, active/default toggles, Save and Reset buttons.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A7D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1–2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prompt indicator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Generation pipeline reads active prompt from DB instead of .txt file. Shows which prompt version is active per step.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320040" y="4572000"/>
            <a:ext cx="8503920" cy="347472"/>
          </a:xfrm>
          <a:prstGeom prst="roundRect">
            <a:avLst>
              <a:gd name="adj" fmla="val 21053"/>
            </a:avLst>
          </a:prstGeom>
          <a:solidFill>
            <a:srgbClr val="E8F8F7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5994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Value:  QA teams can tune LLM prompts without engineering involvement — reducing iteration cycles from days to minutes.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274320" y="4919472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TraceLMs Cloud  ·  v0.1.0  ·  Confidential  ·  June 24,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686800" y="491947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Features 2 &amp; 3: AI Quality Scoring &amp; Feedback Loop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2–4 · High Priority · 9 tasks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18288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78992"/>
          <a:ext cx="8183880" cy="402336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Quality Scoring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QualityScore Prisma model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 score, rationale, breakdown (completeness/clarity/coverage) per generation.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/api/generate/score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Sends test cases to LLM scorer. Returns 0–10 score with per-dimension breakdown.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A7D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score display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badge and radar chart in Test Cases tab. Red/amber/green threshold indicators.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A7D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threshold enforcement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Xray push if score &lt; configurable threshold. Prompts user to regenerate.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A7D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history analytics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trend chart over time. Highlights prompt changes that improved/degraded quality.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Feedback Loop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Feedback Prisma model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 per-test-case thumbs up/down + optional comment. Links to generation and prompt version.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Thumbs up/down UI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Inline rating on each test case card. One click — no modal.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Feedback analytics dashboard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Aggregated feedback scores per prompt version. Shows which prompt changes drove improvement.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A7D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Feedback-driven tuning suggestions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suggests prompt edits based on low-scored test cases. Highlights patterns in negative feedback.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919472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TraceLMs Cloud  ·  v0.1.0  ·  Confidential  ·  June 24, 2026</a:t>
            </a:r>
            <a:endParaRPr lang="en-US" sz="800" dirty="0"/>
          </a:p>
        </p:txBody>
      </p:sp>
      <p:sp>
        <p:nvSpPr>
          <p:cNvPr id="5" name="Text 4"/>
          <p:cNvSpPr/>
          <p:nvPr/>
        </p:nvSpPr>
        <p:spPr>
          <a:xfrm>
            <a:off x="8686800" y="491947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Features 4 &amp; 5: Prompt Version Control &amp; Inline Editing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4–5 · Medium–High Priority · 6 tasks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18288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78992"/>
          <a:ext cx="8366760" cy="3584448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Version Control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PromptVersion model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 each save as a version: id, promptId, content, savedBy, createdAt. Immutable history.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diff viewer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Side-by-side diff of any two versions. Highlights added/removed lines. Accessible from version history panel.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A7D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Rollback to previous version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One-click restore. Sets prior version content as active. New version entry created on rollback.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Inline Test Case Editing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Editable test case fields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Click-to-edit title, steps, expected results, and labels directly in the Test Cases tab. Auto-saves with debounce.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A7D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history / change tracking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 each edit: field, old value, new value, timestamp, user. Visible in a 'History' drawer per test case.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A7D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Re-push edited test case to Xray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Button to push updated test case to Xray after editing. Updates existing Xray test key — no duplicate.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20040" y="4572000"/>
            <a:ext cx="8503920" cy="347472"/>
          </a:xfrm>
          <a:prstGeom prst="roundRect">
            <a:avLst>
              <a:gd name="adj" fmla="val 21053"/>
            </a:avLst>
          </a:prstGeom>
          <a:solidFill>
            <a:srgbClr val="EBF5FB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5994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Complete:  24 tasks · 5 features · ~5 weeks · Unlocks AI quality governance and prompt ownership for QA teams</a:t>
            </a:r>
            <a:endParaRPr lang="en-US" sz="950" dirty="0"/>
          </a:p>
        </p:txBody>
      </p:sp>
      <p:sp>
        <p:nvSpPr>
          <p:cNvPr id="5" name="Text 5"/>
          <p:cNvSpPr/>
          <p:nvPr/>
        </p:nvSpPr>
        <p:spPr>
          <a:xfrm>
            <a:off x="274320" y="4919472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TraceLMs Cloud  ·  v0.1.0  ·  Confidential  ·  June 24,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686800" y="491947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E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1887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691640"/>
            <a:ext cx="8046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Differentiators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31012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E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features · 27 tasks · ~10 weeks · Capabilities no direct competitor offers today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840480"/>
            <a:ext cx="1261872" cy="320040"/>
          </a:xfrm>
          <a:prstGeom prst="roundRect">
            <a:avLst>
              <a:gd name="adj" fmla="val 22857"/>
            </a:avLst>
          </a:prstGeom>
          <a:solidFill>
            <a:srgbClr val="24406E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84048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Bi-dir Traceability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920240" y="3840480"/>
            <a:ext cx="1261872" cy="320040"/>
          </a:xfrm>
          <a:prstGeom prst="roundRect">
            <a:avLst>
              <a:gd name="adj" fmla="val 22857"/>
            </a:avLst>
          </a:prstGeom>
          <a:solidFill>
            <a:srgbClr val="24406E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0240" y="384048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Impact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291840" y="3840480"/>
            <a:ext cx="1261872" cy="320040"/>
          </a:xfrm>
          <a:prstGeom prst="roundRect">
            <a:avLst>
              <a:gd name="adj" fmla="val 22857"/>
            </a:avLst>
          </a:prstGeom>
          <a:solidFill>
            <a:srgbClr val="24406E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384048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Indexing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663440" y="3840480"/>
            <a:ext cx="1261872" cy="320040"/>
          </a:xfrm>
          <a:prstGeom prst="roundRect">
            <a:avLst>
              <a:gd name="adj" fmla="val 22857"/>
            </a:avLst>
          </a:prstGeom>
          <a:solidFill>
            <a:srgbClr val="24406E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384048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 Output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035040" y="3840480"/>
            <a:ext cx="1261872" cy="320040"/>
          </a:xfrm>
          <a:prstGeom prst="roundRect">
            <a:avLst>
              <a:gd name="adj" fmla="val 22857"/>
            </a:avLst>
          </a:prstGeom>
          <a:solidFill>
            <a:srgbClr val="24406E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384048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7406640" y="3840480"/>
            <a:ext cx="1261872" cy="320040"/>
          </a:xfrm>
          <a:prstGeom prst="roundRect">
            <a:avLst>
              <a:gd name="adj" fmla="val 22857"/>
            </a:avLst>
          </a:prstGeom>
          <a:solidFill>
            <a:srgbClr val="24406E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0" y="384048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Operations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· Feature 1: Bi-directional Requirement Traceability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FEATURE · Week 1–3 · High Priority · 4 tasks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18288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78992"/>
          <a:ext cx="8366760" cy="265176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RequirementClause model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 extracted clauses from requirement text: id, generationId, index, text, hash. Generated server-side on requirement submission.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A7D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1–2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/api/generate/trace-map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Sends requirements + test cases to LLM. Returns mapping: { testCaseId → requirementClauseIndices[] }. Uses a dedicated traceability prompt.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A7D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Traceability matrix view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Toggle in TestCases tab: Card View ↔ Traceability Matrix. Requirement clauses as rows, test cases as columns. Exportable as CSV.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Stale test case detection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requirements change, hash-compare old vs new clauses. Flag test cases linked to changed clauses as 'Stale — requirement changed.'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A7D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20040" y="4434840"/>
            <a:ext cx="8503920" cy="438912"/>
          </a:xfrm>
          <a:prstGeom prst="roundRect">
            <a:avLst>
              <a:gd name="adj" fmla="val 16667"/>
            </a:avLst>
          </a:prstGeom>
          <a:solidFill>
            <a:srgbClr val="FADBD8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4622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 LLM hallucination risk on trace-map route — LLM may map test cases to incorrect clauses. Mitigation: confidence scoring + human review toggle before accepting mappings.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274320" y="4919472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TraceLMs Cloud  ·  v0.1.0  ·  Confidential  ·  June 24,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686800" y="491947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· Features 2 &amp; 3: Regression Impact Analysis &amp; RAG Indexing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3–7 · High Priority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18288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78992"/>
          <a:ext cx="8586216" cy="3621024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 Impact Analysis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 engine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diff of old vs new requirement versions. Identifies added, removed, and modified clauses.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A7D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 scoring route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/api/generate/impact — scores which test cases are at risk based on changed clauses.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A7D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Impact panel in UI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 panel in TestCases tab listing impacted test cases with risk level and change summary.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A7D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4–5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Jira change detection webhook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Subscribe to Jira issue_updated events. Auto-trigger impact analysis when linked Jira ticket changes.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Requirement Indexing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embedding pipeline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 each requirement clause using OpenAI/Gemini embeddings. Store vectors in Supabase pgvector.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A7D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5–6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pgvector Supabase integration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 pgvector extension. Cosine similarity search on requirement vectors for semantic retrieval.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search route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/api/requirements/similar — returns top-5 semantically similar requirement sets for the current input.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'Similar requirements' panel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Suggestions panel in Requirements tab showing related past requirements. One click to load as template.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A7D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919472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TraceLMs Cloud  ·  v0.1.0  ·  Confidential  ·  June 24, 2026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686800" y="491947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· Features 4 &amp; 5: Multi-language Output &amp; Analytics Dashboard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7–10 · Medium–High Priority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18288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78992"/>
          <a:ext cx="8677656" cy="3328416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Multi-language Test Output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 selector per test case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Dropdown on each test case: Gherkin (default), Jest, Pytest, JUnit, Cypress, Playwright. Preserves original Gherkin.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generation prompt templates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Dedicated prompt template per target language. Translates Gherkin steps into executable code.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A7D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7–8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 &amp; Reporting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Generation metrics aggregation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 view: generations per day/week, avg quality score, push success rate, top LLM providers used.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A7D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 dashboard page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Analytics tab: charts for generation volume, quality trends, provider usage, push rates.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8–9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Exportable PDF/Excel reports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Download generation summary as PDF or Excel. Includes quality scores, traceability matrix, push history.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A7D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Jira coverage dashboard embed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Jira macro (gadget) that shows requirement coverage % for a project. Pulls from TraceLMs Cloud API.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9–10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919472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TraceLMs Cloud  ·  v0.1.0  ·  Confidential  ·  June 24, 2026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686800" y="491947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· Feature 6: Bulk Operations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9–10 · High Priority · 4 tasks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18288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78992"/>
          <a:ext cx="8503920" cy="914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Impact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Multi-select test cases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Checkbox selection on all test case cards. Select All / Deselect All. Count badge shows selected items.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 for all bulk ops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Bulk Xray push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all selected test cases to Xray in one operation. Progress bar and per-item success/fail status.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A7D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Eliminates repetitive single-push workflow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Bulk export (CSV/Excel)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 selected test cases as CSV or formatted Excel. Includes all fields: title, steps, expected, labels, status.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9–10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 leads can share test suites externally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Bulk status update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status (Draft/Ready/Reviewed/Approved) on all selected test cases simultaneously. Audit-logged.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Reduces review overhead by 80%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20040" y="4526280"/>
            <a:ext cx="8503920" cy="365760"/>
          </a:xfrm>
          <a:prstGeom prst="roundRect">
            <a:avLst>
              <a:gd name="adj" fmla="val 20000"/>
            </a:avLst>
          </a:prstGeom>
          <a:solidFill>
            <a:srgbClr val="FEF9E7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5537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Complete:  27 tasks · 6 features · ~10 weeks · Traceability, RAG, regression detection, multi-language output, analytics, and bulk ops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274320" y="4919472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TraceLMs Cloud  ·  v0.1.0  ·  Confidential  ·  June 24,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686800" y="491947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Timeline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&amp; 5 — 15-week combined roadmap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18288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320040" y="1078992"/>
          <a:ext cx="850392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320040" y="47548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1–15  (each bar unit = 1 week)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274320" y="4919472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TraceLMs Cloud  ·  v0.1.0  ·  Confidential  ·  June 24, 2026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686800" y="491947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Summary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 across Phase 4 &amp; 5 with mitigations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18288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78992"/>
          <a:ext cx="8503920" cy="914400"/>
        </p:xfrm>
        <a:graphic>
          <a:graphicData uri="http://schemas.openxmlformats.org/drawingml/2006/table">
            <a:tbl>
              <a:tblPr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hallucination on trace-map route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confidence scoring. Require human review toggle before accepting mappings. Start with rule-based fallback.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 prompt content breaks generation pipeline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 prompt syntax on save. Dry-run prompt against test input before activating. Rollback available.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Traceability matrix performance with 50+ test cases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 row/column virtualization. Paginate matrix beyond 50 items. Add export as CSV fallback.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embedding quality depends on LLM embedding model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 OpenAI vs Gemini embeddings on internal requirement sets. Use cosine similarity threshold filter.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history analytics adds DB query load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DB index on generationId + createdAt. Use a materialized view for aggregated analytics queries.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919472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TraceLMs Cloud  ·  v0.1.0  ·  Confidential  ·  June 24, 2026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686800" y="491947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 the impact of Phase 4 &amp; 5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18288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15568"/>
            <a:ext cx="2788920" cy="352044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15568"/>
            <a:ext cx="2788920" cy="438912"/>
          </a:xfrm>
          <a:prstGeom prst="roundRect">
            <a:avLst>
              <a:gd name="adj" fmla="val 25000"/>
            </a:avLst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335024"/>
            <a:ext cx="2788920" cy="219456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33856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627632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0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edit-to-activation time &lt; 2 min (vs engineering ticket: 2 days)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0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quality score avg ≥ 7.5/10 within 2 weeks of scoring launch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944368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0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user feedback rate ≥ 70% on scored test cases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3602736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0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prompt-loss incidents (version rollback available)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18688" y="1115568"/>
            <a:ext cx="2788920" cy="352044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18688" y="1115568"/>
            <a:ext cx="2788920" cy="438912"/>
          </a:xfrm>
          <a:prstGeom prst="roundRect">
            <a:avLst>
              <a:gd name="adj" fmla="val 25000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18688" y="1335024"/>
            <a:ext cx="2788920" cy="21945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55848" y="1133856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55848" y="1627632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0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generated test cases traceable to a requirement clause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55848" y="2286000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0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test detection accuracy ≥ 90% on requirement changes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55848" y="2944368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0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semantic search latency &lt; 1s for 95th percentile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55848" y="3602736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0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 adoption: used by ≥ 80% of active projects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08192" y="1115568"/>
            <a:ext cx="2788920" cy="352044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08192" y="1115568"/>
            <a:ext cx="2788920" cy="438912"/>
          </a:xfrm>
          <a:prstGeom prst="roundRect">
            <a:avLst>
              <a:gd name="adj" fmla="val 25000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08192" y="1335024"/>
            <a:ext cx="2788920" cy="219456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45352" y="1133856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45352" y="1627632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0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engineer time-to-test-case: reduce from 3h → 20min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45352" y="2286000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0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Xray push success rate ≥ 98% across bulk operations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45352" y="2944368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0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improvement of +15 points after Phase 5 launch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45352" y="3602736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00" dirty="0">
                <a:solidFill>
                  <a:srgbClr val="1E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regression in existing Phase 1–3 features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4320" y="4919472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TraceLMs Cloud  ·  v0.1.0  ·  Confidential  ·  June 24, 2026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686800" y="491947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&amp; Leadership Asks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to move from Plan to Execution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8229600" cy="18288"/>
          </a:xfrm>
          <a:prstGeom prst="rect">
            <a:avLst/>
          </a:prstGeom>
          <a:solidFill>
            <a:srgbClr val="2D4A8A"/>
          </a:solidFill>
          <a:ln w="12700">
            <a:solidFill>
              <a:srgbClr val="2D4A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1556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15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24128" y="113385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Phase 4 &amp; 5 scope and timeline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24128" y="138988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off on the 51-task scope. Confirm 15-week delivery window is acceptable given current team capacity.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74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24128" y="189280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engineering capacity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24128" y="21488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requires 1 backend + 1 frontend engineer full-time for 5 weeks. Phase 5 requires 2 backend + 1 frontend for 10 weeks.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63347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6334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24128" y="26517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traceability as flagship feature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24128" y="290779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Bi-directional traceability (Phase 5, Feature 1) is a market-differentiating capability. Confirm it stays at top priority.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392424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3924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24128" y="341071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RAG infrastructure cost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24128" y="366674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on Supabase Pro plan required. Embedding API calls add ~$0.002/requirement set. Budget approval needed.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4151376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1513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24128" y="416966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quality score threshold policy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24128" y="442569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A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minimum acceptable AI quality score before a test case can be pushed to Xray? Suggested: 6.5/10.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74320" y="491947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TraceLMs Cloud  ·  v0.1.0  ·  Confidential  ·  June 24,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2478</Words>
  <Application>Microsoft Office PowerPoint</Application>
  <PresentationFormat>On-screen Show (16:9)</PresentationFormat>
  <Paragraphs>472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TraceLMs Cloud — Phase 4 &amp; 5 Implementation Plan</dc:title>
  <dc:subject>AI Quality &amp; Market Differentiators</dc:subject>
  <dc:creator>TraceLMs Cloud</dc:creator>
  <cp:lastModifiedBy>Ariel Cesar Abaoag</cp:lastModifiedBy>
  <cp:revision>2</cp:revision>
  <dcterms:created xsi:type="dcterms:W3CDTF">2026-06-24T13:29:13Z</dcterms:created>
  <dcterms:modified xsi:type="dcterms:W3CDTF">2026-06-25T01:20:45Z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ab519c6-9f13-416b-ad6c-a79673c31c3f_Enabled">
    <vt:lpwstr>true</vt:lpwstr>
  </property>
  <property fmtid="{D5CDD505-2E9C-101B-9397-08002B2CF9AE}" pid="3" name="MSIP_Label_1ab519c6-9f13-416b-ad6c-a79673c31c3f_SetDate">
    <vt:lpwstr>2026-06-25T01:20:18Z</vt:lpwstr>
  </property>
  <property fmtid="{D5CDD505-2E9C-101B-9397-08002B2CF9AE}" pid="4" name="MSIP_Label_1ab519c6-9f13-416b-ad6c-a79673c31c3f_Method">
    <vt:lpwstr>Privileged</vt:lpwstr>
  </property>
  <property fmtid="{D5CDD505-2E9C-101B-9397-08002B2CF9AE}" pid="5" name="MSIP_Label_1ab519c6-9f13-416b-ad6c-a79673c31c3f_Name">
    <vt:lpwstr>Company Confidential External Use</vt:lpwstr>
  </property>
  <property fmtid="{D5CDD505-2E9C-101B-9397-08002B2CF9AE}" pid="6" name="MSIP_Label_1ab519c6-9f13-416b-ad6c-a79673c31c3f_SiteId">
    <vt:lpwstr>edf442f5-b994-4c86-a131-b42b03a16c95</vt:lpwstr>
  </property>
  <property fmtid="{D5CDD505-2E9C-101B-9397-08002B2CF9AE}" pid="7" name="MSIP_Label_1ab519c6-9f13-416b-ad6c-a79673c31c3f_ActionId">
    <vt:lpwstr>9c470fde-f21d-483b-b9ab-1709b423d15a</vt:lpwstr>
  </property>
  <property fmtid="{D5CDD505-2E9C-101B-9397-08002B2CF9AE}" pid="8" name="MSIP_Label_1ab519c6-9f13-416b-ad6c-a79673c31c3f_ContentBits">
    <vt:lpwstr>0</vt:lpwstr>
  </property>
</Properties>
</file>