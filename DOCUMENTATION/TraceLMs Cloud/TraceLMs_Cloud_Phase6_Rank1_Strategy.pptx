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C-4283-A9E9-FFC749E3A6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Depth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CC-4283-A9E9-FFC749E3A6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 Readiness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CC-4283-A9E9-FFC749E3A6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Ecosystem &amp; Integrations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CC-4283-A9E9-FFC749E3A6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Innovation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CC-4283-A9E9-FFC749E3A6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Brand &amp; GTM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2CC-4283-A9E9-FFC749E3A6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Community &amp; Trust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Depth</c:v>
                </c:pt>
                <c:pt idx="1">
                  <c:v>Enterprise Readiness</c:v>
                </c:pt>
                <c:pt idx="2">
                  <c:v>Ecosystem &amp; Integrations</c:v>
                </c:pt>
                <c:pt idx="3">
                  <c:v>AI Innovation</c:v>
                </c:pt>
                <c:pt idx="4">
                  <c:v>Brand &amp; GTM</c:v>
                </c:pt>
                <c:pt idx="5">
                  <c:v>Community &amp; Trust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CC-4283-A9E9-FFC749E3A6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6350" cap="flat">
              <a:solidFill>
                <a:srgbClr val="D1D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82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Strategy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633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9.6 / 10  ·  Rank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Tasks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324612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3246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Pillars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324612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246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324612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246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7452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GTM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43800" y="376732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37673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Directors · Delivery Head · Product Managers · Country Head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Rank-1 — what it means and why it matters now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926080" cy="3520440"/>
          </a:xfrm>
          <a:prstGeom prst="roundRect">
            <a:avLst>
              <a:gd name="adj" fmla="val 3750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/ 10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304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2011680" cy="1828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98448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76856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76856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343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24,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1568" y="1115568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47872" y="1170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Phase 6 Achieves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47872" y="14447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end-to-end gap between requirement and executed, traced, and validated test — in one platform. No competitor does this today.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1568" y="2011680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47872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 1 Matters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47872" y="23408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9.6/10 product score unlocks Atlassian Marketplace listing, SOC 2 certification, enterprise sales, and a defensible category leadership position.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01568" y="2907792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29626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Sequencing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47872" y="32369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pillars execute in parallel: Product Depth (run tests in CI), Enterprise Readiness (SOC 2/SSO), Ecosystem (API + Jira native), AI Innovation (custom model), Brand/GTM (freemium + marketing), Community (open source + docs).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1568" y="3803904"/>
            <a:ext cx="54223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47872" y="38587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47872" y="41330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infrastructure, and go-to-market resources across 14 weeks. Leadership decisions needed on SOC 2 engagement, Stripe pricing, and open-source IP policy.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Pillars to Rank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addresses a distinct dimension of product excellence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16736"/>
            <a:ext cx="2788920" cy="2103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52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83080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23160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9768" y="21031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1396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runner, CI/CD integration, advanced export — closes the end-to-end product gap.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18688" y="11155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1316736"/>
            <a:ext cx="278892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152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10128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95928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95928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81728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81728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21808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21808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28416" y="21031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21396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II, SSO/SAML 2.0, SCIM provisioning, advanced RBAC.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08192" y="11155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08192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1316736"/>
            <a:ext cx="27889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521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Integrations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9632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99632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885432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85432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571232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571232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211312" y="1591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11312" y="1892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0" y="21031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21396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API, Atlassian Marketplace, webhooks, Azure DevOps, SDK packages.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9443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29443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3145536"/>
            <a:ext cx="2788920" cy="2103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29809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11480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11480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97280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97280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83080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783080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423160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1–13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2423160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9768" y="39319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" y="39684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TraceLMs-QA model, autonomous test maintenance, multi-modal input.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18688" y="29443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18688" y="29443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18688" y="3145536"/>
            <a:ext cx="2788920" cy="2103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28416" y="29809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GTM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310128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3310128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995928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3995928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681728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681728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321808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1–14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5321808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328416" y="39319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28416" y="39684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tier, Stripe billing, marketing site, LLM benchmark authority, content programme.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08192" y="2944368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108192" y="29443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08192" y="3145536"/>
            <a:ext cx="2788920" cy="210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0" y="2980944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Trust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199632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6199632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885432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6885432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571232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7571232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Rank★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8211312" y="34198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8211312" y="3721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217920" y="3931920"/>
            <a:ext cx="2569464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3968496"/>
            <a:ext cx="2569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core, developer docs site, TypeScript/Python SDKs, partner programme.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Summary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total tasks · 23 critical · 21 rank-defining · 14-week execution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36676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test runner + CI/CD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 + SSO/SAML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&amp; Integrations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2–14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Marketplace + Public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Innovation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TraceLMs-QA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GTM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+ Stripe + Marketing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&amp; 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core + Developer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Rank-1 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26864"/>
            <a:ext cx="1234440" cy="201168"/>
          </a:xfrm>
          <a:prstGeom prst="roundRect">
            <a:avLst>
              <a:gd name="adj" fmla="val 22727"/>
            </a:avLst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268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91640" y="4626864"/>
            <a:ext cx="1234440" cy="201168"/>
          </a:xfrm>
          <a:prstGeom prst="roundRect">
            <a:avLst>
              <a:gd name="adj" fmla="val 22727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46268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Rank-defining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  —  8 tasks · Weeks 1–12 · 4 critical · 3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540496" cy="326745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Execution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runner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service: POST /api/execute/run. Maps Gherkin steps to Playwright actions. Streams stdout/stderr via SSE. TestRun Prisma model.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results 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'Run Tests' button in TestCases tab. Status pills: Not Run / Running / Pass / Fail / Error. Screenshot thumbnails on failure.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REST API 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/api/v1/generate — API-key authenticated, async, 202 Accepted. Poll GET /api/v1/generation/:id. OpenAPI 3.1 spec at /api/v1/docs.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tracelms-cloud/generate-tests action. Inputs: api-key, requirement-file, project-id, xray-push. Published to GitHub Marketplace.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 + Jenkins plugin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 Catalog component. Jenkins .hpi plugin on Jenkins Plugin Index. Both wrap the same REST API.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 + PDF + Confluence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Traceability-linked Excel export, PDF test report generation, Confluence page publish via REST API.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A0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Playwright→Gherkin step mapping is non-trivial. Start with structured Given/When/Then patterns and explicit selectors. Budget 4 weeks for the runner service alone. Do not promise NLP-based step mapping until V2.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 —  8 tasks · Weeks 1–10 · 4 critical · 4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494776" cy="336499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controls 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 Vanta/Drata/Secureframe. Gap assessment against Trust Services Criteria. Document existing controls (AES-256-GCM, CORS, rate limiting).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+ access 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AuditLog model: id, userId, action, resourceType, ipAddress, userAgent, createdAt. Middleware on every auth'd API call. GET /api/admin/audit-log.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2–3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or Dependabot on every PR. npm audit in CI (fail-on-high). SLA policy: critical 24h, high 7 days, medium 30 days.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/ SAML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2.0 + OIDC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passport-saml + openid-client in Express. Supports Okta, Azure AD, Google Workspace, OneLogin. JIT user provisioning. Fallback email/password login.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3–6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SCIM 2.0 provisioning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GET/POST/PATCH/DELETE /scim/v2/Users. Auto-provision/deprovision users from IdP. Required by Okta + Azure AD enterprise integrations.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6–8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expansion + matrix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Roles: Owner/Admin/Editor/Viewer/Guest. Permission matrix enforcement on all API routes. Org-level audit dashboard.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2–5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SOC 2 Type II requires a 6–12 month observation period. Starting the audit engagement in Week 1 is mandatory — any delay directly extends the certification timeline.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Integrations  —  8 tasks · Weeks 2–14 · 5 critical · 5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631936" cy="3502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REST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admins create/rotate/revoke API keys. Prefixes: tlm_live_ / tlm_test_. Hashed (bcrypt). Scopes: generate, xray:push, admin. Usage stats per key.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Org-configurable webhooks: generation.completed/failed, xray.pushed. HMAC-SHA256 signature. Exponential backoff (3 retries). Delivery log in settings.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3.1 docs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 from Express routes (tsoa or zod-openapi). Serve at /api/v1/docs (Scalar or Redoc). Code examples: TypeScript, Python, curl.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Connect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atlassian-connect.json descriptor. OAuth 2.0 3LO (three-legged) — replaces Basic Auth. Jira issue panel showing generation status. Required for Marketplace listing.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'Generate tests' Jira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on Jira ticket: sends summary + description + AC to generation pipeline. Results in issue panel. One-click Xray push. No context switching.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Integrations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+ TestRail + Zapier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Test Plans integration (High). TestRail integration (Medium). Zapier/Make/n8n native app (Medium). All via OpenAPI client gen.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Atlassian partner review takes 4–6 weeks. Submit the Connect app manifest no later than Week 7 to avoid delays to the Marketplace listing target date.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 —  7 tasks · Weeks 1–13 · 3 critical · 3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494776" cy="363931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anonymised JSONL pairs (generationId, requirementText, testCases) with feedbackScore ≥ 4. PII scrubbing (regex + NER). Target: 10,000+ pairs. Store in Supabase Storage.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Llama 3 / Mistral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LoRA/QLoRA fine-tuning on GPU cloud (Lambda Labs or Modal). Eval: BLEU on Gherkin output, completeness score, human eval by QA engineers. Target: outperform GPT-4o-mini at 1/10th cost.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 +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via Together AI (managed) or vLLM (self-hosted). Add 'TraceLMs-QA' as 5th provider in LLMService.ts. Bundled in Pro plan. Publish benchmark results publicly.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change webhook listener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to Jira issue_updated events. Debounce 5 min. Auto-flag stale test cases on requirement change. Email + in-app notification to project owner.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8–9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Auto-suggest updated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stale detection: 'Regenerate affected steps' action. Targeted LLM update — returns only changed steps. User reviews diff (old vs suggested). One-click re-push to Xray.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9–11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Image/Voice ingestion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ingestion: screenshots, Figma exports, architecture diagrams (Week 9–12). Voice input: Whisper transcription → generation pipeline (Week 11–13).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A0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9–13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Fine-tuning quality is unpredictable without sufficient training volume. Do not announce a 'TraceLMs-QA model' until evaluation results confirm quality. Maintain GPT-4o fallback until model evaluation passes QA engineer review.</a:t>
            </a:r>
            <a:endParaRPr lang="en-US" sz="900" dirty="0"/>
          </a:p>
        </p:txBody>
      </p:sp>
      <p:sp>
        <p:nvSpPr>
          <p:cNvPr id="6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GTM  —  7 tasks · Weeks 1–14 · 4 critical · 3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723376" cy="405079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plan 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model: tier (FREE/PRO/ENTERPRISE), generationsUsed, generationsLimit (3 for FREE). Middleware gate. 402 on limit. Monthly counter reset.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Billing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checkout for PRO plan. Webhook handler: subscription created/updated/cancelled/payment_failed. Update org tier on payment. In-app upgrade modal with feature comparison.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site + pricing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Next.js/Astro site at tracelms.cloud. App at app.tracelms.cloud. Hero + demo video, feature grid, pricing table, ROI calculator, 'Book a demo' CTA for Enterprise.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 Leadership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benchmark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requirement sets × 4 LLM providers × 5 metrics. Publish at tracelms.cloud/benchmark. Updated quarterly. Strongest SEO + trust-building content possible.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programme + SEO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Weekly: 1 technical deep-dive + 1 QA guide + benchmark update. Keywords: 'AI test case generation', 'Jira to Xray automation', 'Gherkin generator AI'. 6–12 month SEO compounding.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deck + case studies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sales deck with ROI calculator (Week 6–7, High). Case study programme: 3 design partners in Year 1 (Week 8–14, High).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E8F8F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The LLM benchmark report is the single highest-leverage content piece — it establishes TraceLMs Cloud as the authority on AI test generation quality and attracts both enterprise buyers and developer community.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6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09728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Trust  —  6 tasks · Weeks 3–10 · 3 critical · 3 rank-defining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8503920" cy="9144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0352"/>
          <a:ext cx="8723376" cy="391363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@tracelms/core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src/services/llm/, src/routes/generate.ts, src/prompts/, src/utils/ into @tracelms/core npm package. MIT license. Cloud platform remains proprietary.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community 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CONTRIBUTING.md, CODE_OF_CONDUCT.md, issue/PR templates, GitHub Discussions. 48h first-response SLA for first 6 months. 2–3h/week community management.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docs.tracelms.cloud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Docusaurus or Mintlify. Sections: 5-min quickstart, REST API reference, webhooks, CI/CD guides (GitHub/GitLab/Jenkins), SDK reference, Prompt Engineering Guide, changelog.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Rank-defining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+ Python SDKs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@tracelms/sdk → npm. tracelms-cloud → PyPI. Auto-generated from OpenAPI spec (openapi-generator or fern.dev). Full type safety, async/await, streaming support.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Programme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consultancy partners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recurring revenue share. White-label option (custom subdomain + logo). Co-marketing: partner logo on tracelms.cloud, joint case studies. Target: 10 partners in Year 1.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programme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'TraceLMs Certified QA Engineer' certification. Self-paced online course. Validates proficiency in AI-assisted QA workflows. Partner priority for certified engineers.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A0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9884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EF5E7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Open-sourcing requires a security review before any code is published. Confirm no credentials, proprietary algorithms, or customer data exist in the extraction scope. Establish a CLA before accepting PRs.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Master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across all 6 pillars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20040" y="1078992"/>
          <a:ext cx="8503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6634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 (each unit = 1 week  ·  all pillars execute in parallel)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critical risk per pillar — severity and mitigation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366760" cy="35204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Playwright→Gherkin mapping accuracy insufficient for 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structured step patterns only. Add NLP resolver in V2. Manual override available.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observation period delays certification beyond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auditor engagement Week 1. Use automated evidence collection (Vanta/Drata). No delay acceptable.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&amp; Integrations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partner review takes longer than 6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Connect app manifest by Week 7. Engage Atlassian partner team early. Maintain Basic Auth as fallback.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Innovation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quality does not meet QA engineer eval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announce model until evaluation passes. Keep GPT-4o as default until TraceLMs-QA model is validated.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GTM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subscription event handling errors cause wrong tier billing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webhook handlers. Store Stripe subscriptionId on Org. Test all subscription lifecycle events in staging.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&amp; 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extraction exposes proprietary algorithm or secret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security audit before any code is published. Legal review of CLA. No extraction until audit passes.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Resource Requirements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execute Phase 6 to Rank-1 standard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16736"/>
            <a:ext cx="2788920" cy="21031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33856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91056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Backend Engineers (Node.js/TypeScript) — full-time 14 weeks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12140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Frontend Engineers (React/TypeScript) — full-time 14 weeks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651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DevOps / Infrastructure Engineer — 50% for 14 weeks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31821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AI/ML Engineer — Weeks 1–12 (fine-tuning pipeline)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316736"/>
            <a:ext cx="2788920" cy="2103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133856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1591056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plan — pgvector + audit logging + Storage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8416" y="212140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compute: Lambda Labs or Modal — fine-tuning runs (Weeks 6–10)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28416" y="2651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 or Replicate — model serving after fine-tuning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28416" y="31821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— payment processing (test + live accounts)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3712464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Vanta/Drata — SOC 2 automated evidence collection ($8–15K/yr)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08192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08192" y="1115568"/>
            <a:ext cx="2788920" cy="411480"/>
          </a:xfrm>
          <a:prstGeom prst="roundRect">
            <a:avLst>
              <a:gd name="adj" fmla="val 26667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1316736"/>
            <a:ext cx="2788920" cy="2103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33856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591056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development (Next.js/Astro) — Weeks 3–6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212140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programme: 1× technical writer — 2h/week from Week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partner registration + review fee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31821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benchmark infrastructure — compute for 50 req set eval runs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3712464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CLA review for open-source, GDPR review for EU training data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achievement of Rank-1 status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366760" cy="36576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execution success rate in CI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pass rate on Playwright runner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run logs per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 certification issued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within 12 months of observation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certification letter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&amp; Integrations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 Marketplace listing live + API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+ 50 API integrations in Month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install count + API key creation events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Innovation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TraceLMs-QA model quality vs GPT-4o-mini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equivalent quality score at ≤ 1/10th token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+ human eval on held-out test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GTM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Free-to-paid conversion + organic traffic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12% free→paid conversion; 10K monthly visitors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conversion funnel + Google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&amp; Trust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@tracelms/core GitHub stars + SDK downloads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stars in Month 1; 1,000 npm downloads/week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Insights + npm download stats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score (Rank-1 benchmark)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Composite: product depth + trust + ecosystem + market 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Leadership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budget commitments, and strategic choices needed before Week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338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6 scope and 14-week delivery commitment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24128" y="1389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44-task scope. Authorize engineering capacity: 4 full-time engineers + 1 AI/ML engineer. Establish weekly delivery reviews.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8653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SOC 2 auditor engagement — start Week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2121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contract Vanta, Drata, or Secureframe. SOC 2 Type II observation period begins only when the auditor is engaged. Every week of delay = a week of certification slip.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596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AI model fine-tuning infrastructure spend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 (Lambda Labs/Modal) for fine-tuning runs in Weeks 6–10. Estimated $2,000–$5,000. Together AI managed serving for post-launch model hosting.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3284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Stripe PRO plan pricing before Weeks 2–3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4128" y="3584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enforcement and Stripe integration require the PRO price to be decided before checkout session development begins. Suggested: $X/user/month. Leadership decision required.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open-source IP policy and legal review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4315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Open-sourcing @tracelms/core requires legal confirmation of scope (no proprietary algorithms or customer data in extraction). CLA must be in place before any PR is accepted from the community.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Phase 6: Rank-1 Strategy  ·  Confidential  ·  June 24,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3376</Words>
  <Application>Microsoft Office PowerPoint</Application>
  <PresentationFormat>On-screen Show (16:9)</PresentationFormat>
  <Paragraphs>602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TraceLMs Cloud — Phase 6: Rank-1 Strategy</dc:title>
  <dc:subject>Rank-1 Strategy — 6 Pillars — 44 Tasks — 14 Weeks</dc:subject>
  <dc:creator>TraceLMs Cloud</dc:creator>
  <cp:lastModifiedBy>Ariel Cesar Abaoag</cp:lastModifiedBy>
  <cp:revision>2</cp:revision>
  <dcterms:created xsi:type="dcterms:W3CDTF">2026-06-24T13:29:13Z</dcterms:created>
  <dcterms:modified xsi:type="dcterms:W3CDTF">2026-06-25T01:21:39Z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2026-06-25T01:20:54Z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5ebfee83-000f-4e1c-8ca5-c56fe3794649</vt:lpwstr>
  </property>
  <property fmtid="{D5CDD505-2E9C-101B-9397-08002B2CF9AE}" pid="8" name="MSIP_Label_1ab519c6-9f13-416b-ad6c-a79673c31c3f_ContentBits">
    <vt:lpwstr>0</vt:lpwstr>
  </property>
</Properties>
</file>