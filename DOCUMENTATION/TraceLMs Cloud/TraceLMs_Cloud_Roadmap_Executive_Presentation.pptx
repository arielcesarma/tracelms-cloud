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7558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TraceLMs Cloud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0" y="169164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5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Implementation Roadmap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8099"/>
                </a:solidFill>
              </a:rPr>
              <a:t>Phases 1 – 6  ·  8 Phases  ·  ~39 Weeks  ·  End State: Enterprise-Ready SaaS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2880360"/>
            <a:ext cx="12192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38912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80"/>
                </a:solidFill>
              </a:rPr>
              <a:t>June 25,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B2B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822960"/>
            <a:ext cx="1146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TraceLMs Cloud requires a structured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</a:rPr>
              <a:t>TraceLMs Cloud v0.1.0 — Current State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548640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64208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1B1B"/>
                </a:solidFill>
              </a:rPr>
              <a:t>🔴  No persistence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94560" y="166420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Generated test cases vanish on every page refresh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2048256"/>
            <a:ext cx="5486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66544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1B1B"/>
                </a:solidFill>
              </a:rPr>
              <a:t>🔴  No authentication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94560" y="206654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Anyone with the URL accesses all API keys and Jira data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450592"/>
            <a:ext cx="548640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6888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1B1B"/>
                </a:solidFill>
              </a:rPr>
              <a:t>🔴  No file security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94560" y="246888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Uploaded documents pass directly to the LLM — injection risk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852928"/>
            <a:ext cx="5486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71216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1B1B"/>
                </a:solidFill>
              </a:rPr>
              <a:t>🔴  No multi-tenancy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94560" y="28712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All users share one settings row and one history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255264"/>
            <a:ext cx="548640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73552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1B1B"/>
                </a:solidFill>
              </a:rPr>
              <a:t>🔴  No permissions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94560" y="327355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A Viewer has identical access to an Owner — no role enforcement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5486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75888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1B1B"/>
                </a:solidFill>
              </a:rPr>
              <a:t>🔴  No prompt control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94560" y="367588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Improving AI output requires a backend code deployment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0" y="1188719"/>
            <a:ext cx="5303520" cy="3587387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1325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Opportunity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1783080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</a:rPr>
              <a:t>✓  Core AI pipeline is functional and working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92240" y="2240280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</a:rPr>
              <a:t>✓  Prisma schema already has all required models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92240" y="2697480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</a:rPr>
              <a:t>✓  SSE streaming delivers real-time generation to browser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92240" y="3154680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</a:rPr>
              <a:t>✓  Xray push with dedup and retry is production-ready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92240" y="3611880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</a:rPr>
              <a:t>✓  React frontend architecture is clean and extensible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92240" y="4056011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4B8A6"/>
                </a:solidFill>
              </a:rPr>
              <a:t>The foundation is solid.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i="1" dirty="0">
                <a:solidFill>
                  <a:srgbClr val="14B8A6"/>
                </a:solidFill>
              </a:rPr>
              <a:t>The gaps are well-defined.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i="1" dirty="0">
                <a:solidFill>
                  <a:srgbClr val="14B8A6"/>
                </a:solidFill>
              </a:rPr>
              <a:t>The roadmap is clear.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B2B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TraceLMs Cloud — What It Does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AI-powered test case generation from software requirements → Xray-ready output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118872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Requirements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FAE5"/>
                </a:solidFill>
              </a:rPr>
              <a:t>#TXT · DOCX · PDF · Jira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017520" y="1737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B5E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560320" cy="118872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AI Processing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20116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FAE5"/>
                </a:solidFill>
              </a:rPr>
              <a:t>4 LLM Providers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1FAE5"/>
                </a:solidFill>
              </a:rPr>
              <a:t>SSE Streaming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0" y="1737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B5E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2560320" cy="11887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 Cases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20116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FAE5"/>
                </a:solidFill>
              </a:rPr>
              <a:t>Gherkin · Steps · Priority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869680" y="1737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B5E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235440" y="1463040"/>
            <a:ext cx="256032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Xray Push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235440" y="20116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FAE5"/>
                </a:solidFill>
              </a:rPr>
              <a:t>Dedup · Retry · Preview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2788920"/>
            <a:ext cx="12192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B5E"/>
                </a:solidFill>
              </a:rPr>
              <a:t>&lt; 5 min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65760" y="3383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Requirements → test cases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74320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B5E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743200" y="3383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LLM providers (OpenAI, Anthropic, Gemini, Groq)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12064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B5E"/>
                </a:solidFill>
              </a:rPr>
              <a:t>4 formats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120640" y="3383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.txt · .md · .docx · .pdf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49808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B5E"/>
                </a:solidFill>
              </a:rPr>
              <a:t>1 click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98080" y="3383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Xray push with dedup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87552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B5E"/>
                </a:solidFill>
              </a:rPr>
              <a:t>v0.1.0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875520" y="3383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Production core pipeline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B2B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8-Phase Implementation Strategy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822960"/>
            <a:ext cx="1146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~39 weeks total  ·  Phases 2.5 and 3.5 are bridging phases that close security and access control gaps before the next feature phase ships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847088" cy="14630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16152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709928"/>
            <a:ext cx="1572768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76479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&amp; Reliability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94360" y="2295144"/>
            <a:ext cx="1389888" cy="219456"/>
          </a:xfrm>
          <a:prstGeom prst="roundRect">
            <a:avLst>
              <a:gd name="adj" fmla="val 1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04288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 wks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2633472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Weeks 1–3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304288" y="1143000"/>
            <a:ext cx="1847088" cy="14630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04288" y="1216152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41448" y="1709928"/>
            <a:ext cx="1572768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59152" y="176479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Single-User Security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32888" y="2295144"/>
            <a:ext cx="1389888" cy="219456"/>
          </a:xfrm>
          <a:prstGeom prst="roundRect">
            <a:avLst>
              <a:gd name="adj" fmla="val 1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32888" y="2304288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 wks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304288" y="2633472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Weeks 3–6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242816" y="1143000"/>
            <a:ext cx="1847088" cy="146304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42816" y="1216152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2.5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79976" y="1709928"/>
            <a:ext cx="1572768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176479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Security Gateway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71416" y="2295144"/>
            <a:ext cx="1389888" cy="219456"/>
          </a:xfrm>
          <a:prstGeom prst="roundRect">
            <a:avLst>
              <a:gd name="adj" fmla="val 1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71416" y="2304288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1.5 wks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242816" y="2633472"/>
            <a:ext cx="1847088" cy="182880"/>
          </a:xfrm>
          <a:prstGeom prst="roundRect">
            <a:avLst>
              <a:gd name="adj" fmla="val 20000"/>
            </a:avLst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42816" y="2642616"/>
            <a:ext cx="18470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◆  Bridging Phase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181344" y="1143000"/>
            <a:ext cx="1847088" cy="14630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81344" y="1216152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18504" y="1709928"/>
            <a:ext cx="1572768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6208" y="176479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&amp; Project Management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09944" y="2295144"/>
            <a:ext cx="1389888" cy="219456"/>
          </a:xfrm>
          <a:prstGeom prst="roundRect">
            <a:avLst>
              <a:gd name="adj" fmla="val 1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9944" y="2304288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 wks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81344" y="2633472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Weeks 8–13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119872" y="1143000"/>
            <a:ext cx="1847088" cy="146304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19872" y="1216152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3.5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257032" y="1709928"/>
            <a:ext cx="1572768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74736" y="176479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Foundation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348472" y="2295144"/>
            <a:ext cx="1389888" cy="219456"/>
          </a:xfrm>
          <a:prstGeom prst="roundRect">
            <a:avLst>
              <a:gd name="adj" fmla="val 1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48472" y="2304288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 wks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119872" y="2633472"/>
            <a:ext cx="1847088" cy="182880"/>
          </a:xfrm>
          <a:prstGeom prst="roundRect">
            <a:avLst>
              <a:gd name="adj" fmla="val 20000"/>
            </a:avLst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19872" y="2642616"/>
            <a:ext cx="18470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◆  Bridging Phase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0058400" y="1143000"/>
            <a:ext cx="1847088" cy="14630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58400" y="1216152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0195560" y="1709928"/>
            <a:ext cx="1572768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13264" y="176479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&amp; Prompt Management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287000" y="2295144"/>
            <a:ext cx="1389888" cy="219456"/>
          </a:xfrm>
          <a:prstGeom prst="roundRect">
            <a:avLst>
              <a:gd name="adj" fmla="val 1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87000" y="2304288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 wks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0058400" y="2633472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Weeks 15–19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65760" y="2871216"/>
            <a:ext cx="5724144" cy="146304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2962656"/>
            <a:ext cx="20034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2552090" y="2999232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52090" y="29992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6 wks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48640" y="3465576"/>
            <a:ext cx="5358384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3529584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Differentiators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3319272" y="3529584"/>
            <a:ext cx="2587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A5F3FC"/>
                </a:solidFill>
              </a:rPr>
              <a:t>"What no other tool can do."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8640" y="3785616"/>
            <a:ext cx="5358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FAE5"/>
                </a:solidFill>
              </a:rPr>
              <a:t>•  Bi-directional traceability — test cases linked to requirement clauses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48640" y="4005072"/>
            <a:ext cx="5358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FAE5"/>
                </a:solidFill>
              </a:rPr>
              <a:t>•  Regression impact analysis — stale test detection on requirement change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48640" y="4224528"/>
            <a:ext cx="5358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FAE5"/>
                </a:solidFill>
              </a:rPr>
              <a:t>•  Stakeholder approval workflow — email review before Xray push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48640" y="4443984"/>
            <a:ext cx="5358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FAE5"/>
                </a:solidFill>
              </a:rPr>
              <a:t>•  LLM cost analytics — cost per run, per project, per provider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65760" y="4361688"/>
            <a:ext cx="57241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Weeks 19–25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181344" y="2871216"/>
            <a:ext cx="5724144" cy="1463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64224" y="2962656"/>
            <a:ext cx="20034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8367674" y="2999232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67674" y="29992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14 wks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364224" y="3465576"/>
            <a:ext cx="5358384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64224" y="3529584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Readiness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9134856" y="3529584"/>
            <a:ext cx="2587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A5F3FC"/>
                </a:solidFill>
              </a:rPr>
              <a:t>"Enterprise-grade. SOC 2 ready. Marketplace-listed."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364224" y="3785616"/>
            <a:ext cx="5358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FAE5"/>
                </a:solidFill>
              </a:rPr>
              <a:t>•  Full RBAC permission matrix UI (extends Phase 3.5)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364224" y="4005072"/>
            <a:ext cx="5358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FAE5"/>
                </a:solidFill>
              </a:rPr>
              <a:t>•  SAML 2.0 / OIDC SSO — Okta, Azure AD, Google Workspace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364224" y="4224528"/>
            <a:ext cx="5358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FAE5"/>
                </a:solidFill>
              </a:rPr>
              <a:t>•  SCIM 2.0 user provisioning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364224" y="4443984"/>
            <a:ext cx="5358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FAE5"/>
                </a:solidFill>
              </a:rPr>
              <a:t>•  SOC 2 Type II readiness + audit log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364224" y="4663440"/>
            <a:ext cx="5358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FAE5"/>
                </a:solidFill>
              </a:rPr>
              <a:t>•  Private file storage + async malware scanning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181344" y="4361688"/>
            <a:ext cx="57241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Weeks 25–39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0" y="4645152"/>
            <a:ext cx="12192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65760" y="4663440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</a:rPr>
              <a:t>◆  Bridging phases (2.5 and 3.5) are security gates — not optional scope.  They close active vulnerabilities before the next feature phase ships.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11765280" cy="7772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1072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 1  ·  Persistence &amp; Reliability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487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5F3FC"/>
                </a:solidFill>
              </a:rPr>
              <a:t>Weeks 1–3  ·  3 wks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777240"/>
            <a:ext cx="11765280" cy="320040"/>
          </a:xfrm>
          <a:prstGeom prst="rect">
            <a:avLst/>
          </a:prstGeom>
          <a:solidFill>
            <a:srgbClr val="E8EB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955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B2B5E"/>
                </a:solidFill>
              </a:rPr>
              <a:t>"Work is never lost."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170432"/>
            <a:ext cx="4114800" cy="10058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0700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91B1B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14630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Generated test cases vanish on page refresh. Push history resets on server restart. The tool is unusable beyond a demo.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4114800" cy="1188720"/>
          </a:xfrm>
          <a:prstGeom prst="rect">
            <a:avLst/>
          </a:prstGeom>
          <a:solidFill>
            <a:srgbClr val="E8EB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7685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2B5E"/>
                </a:solidFill>
              </a:rPr>
              <a:t>WHAT WE BUILD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" y="2532888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Persist every generation and push record to the database. Load the last generation on page mount. Users gain confidence that TraceLMs Cloud is a reliable working tool, not a scratchpad.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26280" y="1170432"/>
            <a:ext cx="69494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207008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2B5E"/>
                </a:solidFill>
              </a:rPr>
              <a:t>KEY DELIVERABLES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149047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490472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Write completed generations to DB (Generation table)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172821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728216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Load last generation on page load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17720" y="19659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965960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Persist Xray push history to DB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7720" y="220370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203704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Remove dead sidebar tabs (Projects, LLM Providers)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26280" y="3017520"/>
            <a:ext cx="3337560" cy="128016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3054096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A5F3FC"/>
                </a:solidFill>
              </a:rPr>
              <a:t>BUSINESS VALUE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17720" y="331927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Retention. Users commit to the tool when their work persists.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55280" y="3017520"/>
            <a:ext cx="3520440" cy="12801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0" y="3054096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65F46"/>
                </a:solidFill>
              </a:rPr>
              <a:t>ACCEPTANCE KPI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046720" y="3319272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Zero generation loss on refresh · Push history survives restarts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11765280" cy="7772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1072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 2  ·  Auth &amp; Single-User Security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487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5F3FC"/>
                </a:solidFill>
              </a:rPr>
              <a:t>Weeks 3–6  ·  3 wks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777240"/>
            <a:ext cx="11765280" cy="320040"/>
          </a:xfrm>
          <a:prstGeom prst="rect">
            <a:avLst/>
          </a:prstGeom>
          <a:solidFill>
            <a:srgbClr val="E0F2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955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695C"/>
                </a:solidFill>
              </a:rPr>
              <a:t>"Lock the front door before anyone enters."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170432"/>
            <a:ext cx="4114800" cy="10058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0700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91B1B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14630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Without authentication, anyone with the server URL has full access — all API keys, all Jira connections, all generated test cases. External deployment is impossible.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4114800" cy="1188720"/>
          </a:xfrm>
          <a:prstGeom prst="rect">
            <a:avLst/>
          </a:prstGeom>
          <a:solidFill>
            <a:srgbClr val="E0F2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7685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0695C"/>
                </a:solidFill>
              </a:rPr>
              <a:t>WHAT WE BUILD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" y="2532888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Add email/password login with JWT sessions. Protect every API route. Enforce HTTPS. Add rate limiting. TraceLMs Cloud can now be deployed externally to real teams.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26280" y="1170432"/>
            <a:ext cx="69494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207008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0695C"/>
                </a:solidFill>
              </a:rPr>
              <a:t>KEY DELIVERABLES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149047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490472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Email/password auth — bcrypt + JWT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172821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728216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Auth middleware on all /api routes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17720" y="19659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965960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Login page (React)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7720" y="220370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203704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HTTPS via reverse proxy (Nginx/Caddy)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17720" y="24414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441448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Rate limiting — per-IP and per-user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267919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679192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Requirement textarea input validation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26280" y="3017520"/>
            <a:ext cx="3337560" cy="12801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3054096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A5F3FC"/>
                </a:solidFill>
              </a:rPr>
              <a:t>BUSINESS VALUE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17720" y="331927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Deployability. The product can leave localhost.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955280" y="3017520"/>
            <a:ext cx="3520440" cy="12801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0" y="3054096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65F46"/>
                </a:solidFill>
              </a:rPr>
              <a:t>ACCEPTANCE KPI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046720" y="3319272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All /api routes return 401 without JWT · HTTPS enforced · 429 on rate breach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11765280" cy="77724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1072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 2.5  ·  Document Security Gateway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487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5F3FC"/>
                </a:solidFill>
              </a:rPr>
              <a:t>Weeks 6–8  ·  1.5 wks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777240"/>
            <a:ext cx="11765280" cy="320040"/>
          </a:xfrm>
          <a:prstGeom prst="rect">
            <a:avLst/>
          </a:prstGeom>
          <a:solidFill>
            <a:srgbClr val="E0F2F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955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C4A6E"/>
                </a:solidFill>
              </a:rPr>
              <a:t>"Validate the file before the AI ever sees it."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170432"/>
            <a:ext cx="4114800" cy="10058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0700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91B1B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14630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TraceLMs accepts any uploaded file and passes extracted text directly to the LLM — including text like "Ignore previous instructions." This is an active vulnerability in v0.1.0.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4114800" cy="1188720"/>
          </a:xfrm>
          <a:prstGeom prst="rect">
            <a:avLst/>
          </a:prstGeom>
          <a:solidFill>
            <a:srgbClr val="E0F2F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7685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C4A6E"/>
                </a:solidFill>
              </a:rPr>
              <a:t>WHAT WE BUILD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" y="2532888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A typed 7-step DocumentSecurityGateway validates every upload before parsing: extension → size → decode → magic bytes → structure → macro detection → SHA-256 hash. A PromptSanitizer wraps extracted text in data boundaries and flags injection patterns.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26280" y="1170432"/>
            <a:ext cx="69494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207008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C4A6E"/>
                </a:solidFill>
              </a:rPr>
              <a:t>KEY DELIVERABLES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149047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490472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DocumentSecurityGateway — 7-step typed validation pipeline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172821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728216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PromptSanitizer — boundary wrap + injection pattern scanner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17720" y="19659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965960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JSON body limit: 50 MB → 27 MB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7720" y="220370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203704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Upload rate limit: 10 files / user / min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17720" y="24414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441448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Unit test coverage for all 7 gateway steps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26280" y="3017520"/>
            <a:ext cx="3337560" cy="128016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3054096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A5F3FC"/>
                </a:solidFill>
              </a:rPr>
              <a:t>BUSINESS VALUE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17720" y="331927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Security posture + SOC 2 CC6.1 evidence. Closes the attack surface before multi-tenancy grows the user base.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55280" y="3017520"/>
            <a:ext cx="3520440" cy="12801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0" y="3054096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65F46"/>
                </a:solidFill>
              </a:rPr>
              <a:t>ACCEPTANCE KPI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046720" y="3319272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Malformed/macro/oversized files rejected with typed error codes · Injection patterns flagged &lt;2% false positive rate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11765280" cy="7772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1072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 3  ·  Multi-Tenancy &amp; Project Management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487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5F3FC"/>
                </a:solidFill>
              </a:rPr>
              <a:t>Weeks 8–13  ·  5 wks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777240"/>
            <a:ext cx="11765280" cy="320040"/>
          </a:xfrm>
          <a:prstGeom prst="rect">
            <a:avLst/>
          </a:prstGeom>
          <a:solidFill>
            <a:srgbClr val="F3E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955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6A1B9A"/>
                </a:solidFill>
              </a:rPr>
              <a:t>"One tool, many teams."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170432"/>
            <a:ext cx="4114800" cy="10058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0700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91B1B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14630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TraceLMs Cloud has one shared settings row and one shared history. Multiple users corrupt each other's state. There is no concept of a project, a team, or individual ownership.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4114800" cy="1188720"/>
          </a:xfrm>
          <a:prstGeom prst="rect">
            <a:avLst/>
          </a:prstGeom>
          <a:solidFill>
            <a:srgbClr val="F3E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7685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A1B9A"/>
                </a:solidFill>
              </a:rPr>
              <a:t>WHAT WE BUILD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" y="2532888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Activate the existing Prisma schema. Each user gets isolated settings, project history, and a generation log. Teams can collaborate on projects without data collision. The platform becomes billable per user.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26280" y="1170432"/>
            <a:ext cx="69494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207008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A1B9A"/>
                </a:solidFill>
              </a:rPr>
              <a:t>KEY DELIVERABLES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149047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490472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User model + foreign keys on Project and Generation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172821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728216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Project CRUD + working Projects tab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17720" y="19659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965960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Generation history per project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7720" y="220370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203704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Per-user settings (replaces single shared row)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17720" y="24414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441448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Stakeholder invite + role label UI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267919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679192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SHA-256 dedup from Phase 2.5 for generation history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26280" y="3017520"/>
            <a:ext cx="3337560" cy="12801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3054096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A5F3FC"/>
                </a:solidFill>
              </a:rPr>
              <a:t>BUSINESS VALUE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17720" y="331927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Team adoption. TraceLMs scales from one person to a department.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955280" y="3017520"/>
            <a:ext cx="3520440" cy="12801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0" y="3054096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65F46"/>
                </a:solidFill>
              </a:rPr>
              <a:t>ACCEPTANCE KPI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046720" y="3319272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User A cannot access User B's projects · Settings isolation verified · History per project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11765280" cy="77724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1072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 3.5  ·  RBAC Foundation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487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5F3FC"/>
                </a:solidFill>
              </a:rPr>
              <a:t>Weeks 13–15  ·  2 wks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777240"/>
            <a:ext cx="11765280" cy="320040"/>
          </a:xfrm>
          <a:prstGeom prst="rect">
            <a:avLst/>
          </a:prstGeom>
          <a:solidFill>
            <a:srgbClr val="FEF3C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955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92400E"/>
                </a:solidFill>
              </a:rPr>
              <a:t>"Role labels become permission boundaries."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170432"/>
            <a:ext cx="4114800" cy="10058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0700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91B1B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14630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Phase 3 introduces role labels but never enforces them. A Viewer has identical server-side capabilities to an Owner. Xray pushes, settings changes, and project deletions are unrestricted.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4114800" cy="1188720"/>
          </a:xfrm>
          <a:prstGeom prst="rect">
            <a:avLst/>
          </a:prstGeom>
          <a:solidFill>
            <a:srgbClr val="FEF3C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7685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2400E"/>
                </a:solidFill>
              </a:rPr>
              <a:t>WHAT WE BUILD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" y="2532888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Add OrgRole and ProjectRole enums enforced in Express middleware. Every sensitive route is guarded. UI hides/disables actions the user cannot perform. Phase 6 enterprise RBAC is additive on this foundation.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26280" y="1170432"/>
            <a:ext cx="69494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207008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2400E"/>
                </a:solidFill>
              </a:rPr>
              <a:t>KEY DELIVERABLES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149047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490472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OrgRole: OWNER / ADMIN / EDITOR / VIEWER — enforced on all routes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172821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728216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ProjectRole: LEAD / EDITOR / REVIEWER / VIEWER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17720" y="19659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965960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Permission middleware: can() + requireRole()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7720" y="220370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203704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UI: role badge, disabled destructive actions for Viewer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17720" y="24414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441448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Owner auto-bootstrap on first registration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267919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679192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User management UI (Owner/Admin only)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26280" y="3017520"/>
            <a:ext cx="3337560" cy="128016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3054096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A5F3FC"/>
                </a:solidFill>
              </a:rPr>
              <a:t>BUSINESS VALUE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17720" y="331927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integrity + compliance. Viewer cannot push to Xray. SOC 2 access control evidence.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955280" y="3017520"/>
            <a:ext cx="3520440" cy="12801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0" y="3054096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65F46"/>
                </a:solidFill>
              </a:rPr>
              <a:t>ACCEPTANCE KPI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046720" y="3319272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Viewer JWT returns 403 on all mutation routes · Role badge visible in sidebar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11765280" cy="777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1072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 4  ·  AI Quality &amp; Prompt Management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487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5F3FC"/>
                </a:solidFill>
              </a:rPr>
              <a:t>Weeks 15–19  ·  4 wks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777240"/>
            <a:ext cx="11765280" cy="320040"/>
          </a:xfrm>
          <a:prstGeom prst="rect">
            <a:avLst/>
          </a:prstGeom>
          <a:solidFill>
            <a:srgbClr val="FEF3C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955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B45309"/>
                </a:solidFill>
              </a:rPr>
              <a:t>"Better output, without a code deploy."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170432"/>
            <a:ext cx="4114800" cy="10058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0700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91B1B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14630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Prompt quality determines test case quality. But all prompts are static files requiring a backend deployment to change. QA teams have no way to tune output for their domain.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4114800" cy="1188720"/>
          </a:xfrm>
          <a:prstGeom prst="rect">
            <a:avLst/>
          </a:prstGeom>
          <a:solidFill>
            <a:srgbClr val="FEF3C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7685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B45309"/>
                </a:solidFill>
              </a:rPr>
              <a:t>WHAT WE BUILD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" y="2532888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Store system prompts in the database. Build a prompt management UI. Add per-project prompt overrides. Introduce inline test case editing and a feedback loop that captures thumbs-up/down per test case.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26280" y="1170432"/>
            <a:ext cx="69494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207008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B45309"/>
                </a:solidFill>
              </a:rPr>
              <a:t>KEY DELIVERABLES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149047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490472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Prompt management UI — edit from browser, stored in DB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172821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728216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Per-project prompt customization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17720" y="19659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965960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Inline test case editing before Xray push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7720" y="220370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203704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Generation feedback loop (thumbs per test case)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17720" y="24414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441448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Model quality scoring per provider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26280" y="3017520"/>
            <a:ext cx="3337560" cy="12801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3054096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A5F3FC"/>
                </a:solidFill>
              </a:rPr>
              <a:t>BUSINESS VALUE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17720" y="331927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Speed-to-quality. Teams produce publication-ready test cases faster with less manual rework.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55280" y="3017520"/>
            <a:ext cx="3520440" cy="12801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0" y="3054096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65F46"/>
                </a:solidFill>
              </a:rPr>
              <a:t>ACCEPTANCE KPI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046720" y="3319272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Prompt changes live in &lt;2 min with no code release · Feedback loop data persisted per generation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11765280" cy="77724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1072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 5  ·  Market Differentiators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487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5F3FC"/>
                </a:solidFill>
              </a:rPr>
              <a:t>Weeks 19–25  ·  6 wks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777240"/>
            <a:ext cx="11765280" cy="320040"/>
          </a:xfrm>
          <a:prstGeom prst="rect">
            <a:avLst/>
          </a:prstGeom>
          <a:solidFill>
            <a:srgbClr val="F5F3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955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6B21A8"/>
                </a:solidFill>
              </a:rPr>
              <a:t>"What no other tool can do."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170432"/>
            <a:ext cx="4114800" cy="10058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0700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91B1B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14630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Generic AI test tools generate test cases. TraceLMs Cloud must generate test cases AND maintain their connection to requirements, track cost, and flag requirement quality.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4114800" cy="1188720"/>
          </a:xfrm>
          <a:prstGeom prst="rect">
            <a:avLst/>
          </a:prstGeom>
          <a:solidFill>
            <a:srgbClr val="F5F3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7685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21A8"/>
                </a:solidFill>
              </a:rPr>
              <a:t>WHAT WE BUILD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" y="2532888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Ship five differentiating capabilities: bi-directional traceability, regression impact analysis, stakeholder approval workflow, LLM cost analytics dashboard, and requirement quality scoring.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26280" y="1170432"/>
            <a:ext cx="69494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207008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21A8"/>
                </a:solidFill>
              </a:rPr>
              <a:t>KEY DELIVERABLES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149047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490472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Bi-directional traceability — test cases linked to requirement clauses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172821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728216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Regression impact analysis — stale test detection on requirement change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17720" y="19659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965960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Stakeholder approval workflow — email review before Xray push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7720" y="220370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203704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LLM cost analytics — cost per run, per project, per provider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17720" y="24414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441448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Requirement quality score — completeness + testability analysis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26280" y="3017520"/>
            <a:ext cx="3337560" cy="128016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3054096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A5F3FC"/>
                </a:solidFill>
              </a:rPr>
              <a:t>BUSINESS VALUE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17720" y="331927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Competitive moat. These capabilities justify a premium price tier and make migration painful.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55280" y="3017520"/>
            <a:ext cx="3520440" cy="12801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0" y="3054096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65F46"/>
                </a:solidFill>
              </a:rPr>
              <a:t>ACCEPTANCE KPI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046720" y="3319272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Traceability coverage rate tracked · LLM cost per test case displayed · Quality score validated against QA review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11765280" cy="7772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1072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 6  ·  Enterprise Readiness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487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5F3FC"/>
                </a:solidFill>
              </a:rPr>
              <a:t>Weeks 25–39  ·  14 wks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777240"/>
            <a:ext cx="117652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955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F2937"/>
                </a:solidFill>
              </a:rPr>
              <a:t>"Enterprise-grade. SOC 2 ready. Marketplace-listed."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170432"/>
            <a:ext cx="4114800" cy="10058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0700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91B1B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14630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Enterprise procurement gates require SSO, SCIM provisioning, SOC 2 Type II, fine-grained access control, and audit logging. Without these, large-organization deals cannot close.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411480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7685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F2937"/>
                </a:solidFill>
              </a:rPr>
              <a:t>WHAT WE BUILD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" y="2532888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Six pillars: Enterprise Security (full RBAC, SAML/OIDC, SCIM), Product Depth, Ecosystem integrations, AI Innovation, Brand &amp; GTM, Community &amp; Trust (SOC 2, public docs).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26280" y="1170432"/>
            <a:ext cx="69494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207008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F2937"/>
                </a:solidFill>
              </a:rPr>
              <a:t>KEY DELIVERABLES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149047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490472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Full RBAC permission matrix UI (extends Phase 3.5)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172821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728216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SAML 2.0 / OIDC SSO — Okta, Azure AD, Google Workspace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17720" y="19659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965960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SCIM 2.0 user provisioning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7720" y="220370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203704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SOC 2 Type II readiness + audit log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17720" y="24414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441448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Private file storage + async malware scanning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267919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679192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</a:rPr>
              <a:t>Azure DevOps / GitHub Actions / Zephyr integrations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26280" y="3017520"/>
            <a:ext cx="3337560" cy="12801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3054096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A5F3FC"/>
                </a:solidFill>
              </a:rPr>
              <a:t>BUSINESS VALUE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17720" y="331927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Enterprise revenue. Large-org deals, ISV marketplace listings, compliance certifications.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955280" y="3017520"/>
            <a:ext cx="3520440" cy="12801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0" y="3054096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65F46"/>
                </a:solidFill>
              </a:rPr>
              <a:t>ACCEPTANCE KPI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046720" y="3319272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SOC 2 Type II report issued · SSO login rate · Enterprise MRR · Marketplace install count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B2B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  ·  ~39 Weeks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822960"/>
            <a:ext cx="1146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phases 2.5 and 3.5 are shown in distinct tones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926080" y="7955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M1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926080" y="978408"/>
            <a:ext cx="0" cy="291693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98277" y="7955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798277" y="978408"/>
            <a:ext cx="0" cy="291693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70474" y="7955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M3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670474" y="978408"/>
            <a:ext cx="0" cy="291693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42671" y="7955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M4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542671" y="978408"/>
            <a:ext cx="0" cy="291693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4868" y="7955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M5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414868" y="978408"/>
            <a:ext cx="0" cy="291693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87065" y="7955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M6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287065" y="978408"/>
            <a:ext cx="0" cy="291693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9262" y="7955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M7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159262" y="978408"/>
            <a:ext cx="0" cy="291693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31458" y="7955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M8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9031458" y="978408"/>
            <a:ext cx="0" cy="291693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03655" y="7955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M9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903655" y="978408"/>
            <a:ext cx="0" cy="291693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75852" y="7955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M10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0775852" y="978408"/>
            <a:ext cx="0" cy="291693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1051560"/>
            <a:ext cx="914400" cy="310896"/>
          </a:xfrm>
          <a:prstGeom prst="rect">
            <a:avLst/>
          </a:prstGeom>
          <a:solidFill>
            <a:srgbClr val="1B2B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88720" y="1051560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7"/>
                </a:solidFill>
              </a:rPr>
              <a:t>Persistence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926080" y="1088136"/>
            <a:ext cx="436098" cy="256032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71800" y="1106424"/>
            <a:ext cx="34465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W1–W3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82880" y="1399032"/>
            <a:ext cx="914400" cy="310896"/>
          </a:xfrm>
          <a:prstGeom prst="rect">
            <a:avLst/>
          </a:prstGeom>
          <a:solidFill>
            <a:srgbClr val="00695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88720" y="139903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7"/>
                </a:solidFill>
              </a:rPr>
              <a:t>Auth &amp; Security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62178" y="1435608"/>
            <a:ext cx="654148" cy="2560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07898" y="1453896"/>
            <a:ext cx="5627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W3–W6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82880" y="1746504"/>
            <a:ext cx="914400" cy="310896"/>
          </a:xfrm>
          <a:prstGeom prst="rect">
            <a:avLst/>
          </a:prstGeom>
          <a:solidFill>
            <a:srgbClr val="0C4A6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2.5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88720" y="1746504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7"/>
                </a:solidFill>
              </a:rPr>
              <a:t>Doc Security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016326" y="1783080"/>
            <a:ext cx="436098" cy="256032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62046" y="1801368"/>
            <a:ext cx="34465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W6–W8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2093976"/>
            <a:ext cx="914400" cy="310896"/>
          </a:xfrm>
          <a:prstGeom prst="rect">
            <a:avLst/>
          </a:prstGeom>
          <a:solidFill>
            <a:srgbClr val="6A1B9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88720" y="2093976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7"/>
                </a:solidFill>
              </a:rPr>
              <a:t>Multi-Tenancy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452425" y="2130552"/>
            <a:ext cx="1090246" cy="25603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98145" y="2148840"/>
            <a:ext cx="99880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W8–W13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82880" y="2441448"/>
            <a:ext cx="914400" cy="310896"/>
          </a:xfrm>
          <a:prstGeom prst="rect">
            <a:avLst/>
          </a:prstGeom>
          <a:solidFill>
            <a:srgbClr val="92400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3.5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88720" y="2441448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7"/>
                </a:solidFill>
              </a:rPr>
              <a:t>RBAC Foundation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542671" y="2478024"/>
            <a:ext cx="436098" cy="25603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88391" y="2496312"/>
            <a:ext cx="34465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W13–W15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82880" y="2788920"/>
            <a:ext cx="914400" cy="310896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88720" y="2788920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7"/>
                </a:solidFill>
              </a:rPr>
              <a:t>AI Quality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978769" y="2825496"/>
            <a:ext cx="872197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24489" y="2843784"/>
            <a:ext cx="78075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W15–W19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82880" y="3136392"/>
            <a:ext cx="914400" cy="310896"/>
          </a:xfrm>
          <a:prstGeom prst="rect">
            <a:avLst/>
          </a:prstGeom>
          <a:solidFill>
            <a:srgbClr val="6B21A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88720" y="313639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7"/>
                </a:solidFill>
              </a:rPr>
              <a:t>Differentiators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850966" y="3172968"/>
            <a:ext cx="1308295" cy="256032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6686" y="3191256"/>
            <a:ext cx="1216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W19–W25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82880" y="3483864"/>
            <a:ext cx="914400" cy="310896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88720" y="3483864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7"/>
                </a:solidFill>
              </a:rPr>
              <a:t>Enterprise Readiness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159262" y="3520440"/>
            <a:ext cx="3052689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04982" y="3538728"/>
            <a:ext cx="296124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W25–W39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74320" y="4160520"/>
            <a:ext cx="1121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Bridging phases (2.5, 3.5) are critical security gates — they are not optional.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B2B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822960"/>
            <a:ext cx="1146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engineering effort across all 8 phases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914400" cy="310896"/>
          </a:xfrm>
          <a:prstGeom prst="rect">
            <a:avLst/>
          </a:prstGeom>
          <a:solidFill>
            <a:srgbClr val="1B2B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4241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97280" y="1005840"/>
            <a:ext cx="2560320" cy="310896"/>
          </a:xfrm>
          <a:prstGeom prst="rect">
            <a:avLst/>
          </a:prstGeom>
          <a:solidFill>
            <a:srgbClr val="1B2B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04241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Name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0" y="1005840"/>
            <a:ext cx="1188720" cy="310896"/>
          </a:xfrm>
          <a:prstGeom prst="rect">
            <a:avLst/>
          </a:prstGeom>
          <a:solidFill>
            <a:srgbClr val="1B2B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104241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Duration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1645920" cy="310896"/>
          </a:xfrm>
          <a:prstGeom prst="rect">
            <a:avLst/>
          </a:prstGeom>
          <a:solidFill>
            <a:srgbClr val="1B2B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4241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Effort*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92240" y="1005840"/>
            <a:ext cx="1097280" cy="310896"/>
          </a:xfrm>
          <a:prstGeom prst="rect">
            <a:avLst/>
          </a:prstGeom>
          <a:solidFill>
            <a:srgbClr val="1B2B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04241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Risk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589520" y="1005840"/>
            <a:ext cx="3200400" cy="310896"/>
          </a:xfrm>
          <a:prstGeom prst="rect">
            <a:avLst/>
          </a:prstGeom>
          <a:solidFill>
            <a:srgbClr val="1B2B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104241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Strategic Gate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1316736"/>
            <a:ext cx="914400" cy="310896"/>
          </a:xfrm>
          <a:prstGeom prst="rect">
            <a:avLst/>
          </a:prstGeom>
          <a:solidFill>
            <a:srgbClr val="1B2B5E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135331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97280" y="1316736"/>
            <a:ext cx="25603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135331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Persistence &amp; Reliability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0" y="1316736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13533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3 weeks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46320" y="1316736"/>
            <a:ext cx="1645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35331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~1 engineer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92240" y="1316736"/>
            <a:ext cx="1097280" cy="310896"/>
          </a:xfrm>
          <a:prstGeom prst="rect">
            <a:avLst/>
          </a:prstGeom>
          <a:solidFill>
            <a:srgbClr val="D5F5E3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135331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8449"/>
                </a:solidFill>
              </a:rPr>
              <a:t>Low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589520" y="1316736"/>
            <a:ext cx="3200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135331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Must-ship before external access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82880" y="1645920"/>
            <a:ext cx="914400" cy="310896"/>
          </a:xfrm>
          <a:prstGeom prst="rect">
            <a:avLst/>
          </a:prstGeom>
          <a:solidFill>
            <a:srgbClr val="00695C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168249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1645920"/>
            <a:ext cx="25603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" y="168249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Auth &amp; Single-User Security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0" y="1645920"/>
            <a:ext cx="11887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03320" y="168249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3 weeks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46320" y="1645920"/>
            <a:ext cx="16459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168249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~1–2 engineers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492240" y="1645920"/>
            <a:ext cx="1097280" cy="310896"/>
          </a:xfrm>
          <a:prstGeom prst="rect">
            <a:avLst/>
          </a:prstGeom>
          <a:solidFill>
            <a:srgbClr val="FEF3C7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168249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B7770D"/>
                </a:solidFill>
              </a:rPr>
              <a:t>Medium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589520" y="1645920"/>
            <a:ext cx="32004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35240" y="168249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Must-ship before any external deployment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82880" y="1975104"/>
            <a:ext cx="914400" cy="310896"/>
          </a:xfrm>
          <a:prstGeom prst="rect">
            <a:avLst/>
          </a:prstGeom>
          <a:solidFill>
            <a:srgbClr val="0C4A6E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201168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2.5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097280" y="1975104"/>
            <a:ext cx="25603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43000" y="201168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Document Security Gateway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657600" y="1975104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03320" y="201168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1.5 weeks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846320" y="1975104"/>
            <a:ext cx="1645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201168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~1 engineer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492240" y="1975104"/>
            <a:ext cx="1097280" cy="310896"/>
          </a:xfrm>
          <a:prstGeom prst="rect">
            <a:avLst/>
          </a:prstGeom>
          <a:solidFill>
            <a:srgbClr val="FEF9E7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37960" y="201168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7D0A"/>
                </a:solidFill>
              </a:rPr>
              <a:t>Low-Med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589520" y="1975104"/>
            <a:ext cx="3200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35240" y="201168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Must-ship before multi-tenancy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82880" y="2304288"/>
            <a:ext cx="914400" cy="310896"/>
          </a:xfrm>
          <a:prstGeom prst="rect">
            <a:avLst/>
          </a:prstGeom>
          <a:solidFill>
            <a:srgbClr val="6A1B9A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8600" y="234086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097280" y="2304288"/>
            <a:ext cx="25603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43000" y="234086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Multi-Tenancy &amp; Projects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657600" y="2304288"/>
            <a:ext cx="11887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03320" y="234086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5 weeks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846320" y="2304288"/>
            <a:ext cx="16459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92040" y="2340864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~2 engineers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492240" y="2304288"/>
            <a:ext cx="1097280" cy="310896"/>
          </a:xfrm>
          <a:prstGeom prst="rect">
            <a:avLst/>
          </a:prstGeom>
          <a:solidFill>
            <a:srgbClr val="FEF3C7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37960" y="234086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B7770D"/>
                </a:solidFill>
              </a:rPr>
              <a:t>Medium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589520" y="2304288"/>
            <a:ext cx="32004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635240" y="234086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Must-ship for team adoption and billing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182880" y="2633472"/>
            <a:ext cx="914400" cy="310896"/>
          </a:xfrm>
          <a:prstGeom prst="rect">
            <a:avLst/>
          </a:prstGeom>
          <a:solidFill>
            <a:srgbClr val="92400E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8600" y="267004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3.5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097280" y="2633472"/>
            <a:ext cx="25603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43000" y="267004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RBAC Foundation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657600" y="2633472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03320" y="267004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2 weeks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846320" y="2633472"/>
            <a:ext cx="1645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92040" y="267004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~1–2 engineers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492240" y="2633472"/>
            <a:ext cx="1097280" cy="310896"/>
          </a:xfrm>
          <a:prstGeom prst="rect">
            <a:avLst/>
          </a:prstGeom>
          <a:solidFill>
            <a:srgbClr val="FDEBD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537960" y="267004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0770A"/>
                </a:solidFill>
              </a:rPr>
              <a:t>Med-High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589520" y="2633472"/>
            <a:ext cx="3200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635240" y="267004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Must-ship before Phase 4 features are gated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82880" y="2962656"/>
            <a:ext cx="914400" cy="310896"/>
          </a:xfrm>
          <a:prstGeom prst="rect">
            <a:avLst/>
          </a:prstGeom>
          <a:solidFill>
            <a:srgbClr val="B45309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28600" y="299923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4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097280" y="2962656"/>
            <a:ext cx="25603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143000" y="299923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AI Quality &amp; Prompt Management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3657600" y="2962656"/>
            <a:ext cx="11887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703320" y="29992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4 weeks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846320" y="2962656"/>
            <a:ext cx="16459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892040" y="299923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~2 engineers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492240" y="2962656"/>
            <a:ext cx="1097280" cy="310896"/>
          </a:xfrm>
          <a:prstGeom prst="rect">
            <a:avLst/>
          </a:prstGeom>
          <a:solidFill>
            <a:srgbClr val="FEF3C7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537960" y="299923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B7770D"/>
                </a:solidFill>
              </a:rPr>
              <a:t>Medium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7589520" y="2962656"/>
            <a:ext cx="32004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35240" y="299923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Premium tier unlock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182880" y="3291840"/>
            <a:ext cx="914400" cy="310896"/>
          </a:xfrm>
          <a:prstGeom prst="rect">
            <a:avLst/>
          </a:prstGeom>
          <a:solidFill>
            <a:srgbClr val="6B21A8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28600" y="332841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5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1097280" y="3291840"/>
            <a:ext cx="25603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143000" y="332841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Market Differentiators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3657600" y="3291840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703320" y="332841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6 weeks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4846320" y="3291840"/>
            <a:ext cx="1645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892040" y="332841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~2–3 engineers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6492240" y="3291840"/>
            <a:ext cx="1097280" cy="310896"/>
          </a:xfrm>
          <a:prstGeom prst="rect">
            <a:avLst/>
          </a:prstGeom>
          <a:solidFill>
            <a:srgbClr val="FADBD8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537960" y="332841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0392B"/>
                </a:solidFill>
              </a:rPr>
              <a:t>High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7589520" y="3291840"/>
            <a:ext cx="3200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635240" y="332841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Competitive moat; Phase 6 pull-through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182880" y="3621024"/>
            <a:ext cx="914400" cy="310896"/>
          </a:xfrm>
          <a:prstGeom prst="rect">
            <a:avLst/>
          </a:prstGeom>
          <a:solidFill>
            <a:srgbClr val="1F2937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28600" y="365760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6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1097280" y="3621024"/>
            <a:ext cx="25603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143000" y="365760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Enterprise Readiness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3657600" y="3621024"/>
            <a:ext cx="11887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703320" y="365760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14 weeks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4846320" y="3621024"/>
            <a:ext cx="16459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892040" y="365760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~3–5 engineers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6492240" y="3621024"/>
            <a:ext cx="1097280" cy="310896"/>
          </a:xfrm>
          <a:prstGeom prst="rect">
            <a:avLst/>
          </a:prstGeom>
          <a:solidFill>
            <a:srgbClr val="FADBD8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537960" y="365760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0392B"/>
                </a:solidFill>
              </a:rPr>
              <a:t>High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7589520" y="3621024"/>
            <a:ext cx="32004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635240" y="365760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7"/>
                </a:solidFill>
              </a:rPr>
              <a:t>Enterprise sales and marketplace listings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182880" y="3950208"/>
            <a:ext cx="914400" cy="310896"/>
          </a:xfrm>
          <a:prstGeom prst="rect">
            <a:avLst/>
          </a:prstGeom>
          <a:solidFill>
            <a:srgbClr val="1B2B5E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28600" y="398678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TOTAL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1097280" y="3950208"/>
            <a:ext cx="2560320" cy="310896"/>
          </a:xfrm>
          <a:prstGeom prst="rect">
            <a:avLst/>
          </a:prstGeom>
          <a:solidFill>
            <a:srgbClr val="1B2B5E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143000" y="398678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3657600" y="3950208"/>
            <a:ext cx="1188720" cy="310896"/>
          </a:xfrm>
          <a:prstGeom prst="rect">
            <a:avLst/>
          </a:prstGeom>
          <a:solidFill>
            <a:srgbClr val="1B2B5E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703320" y="398678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~39 weeks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4846320" y="3950208"/>
            <a:ext cx="1645920" cy="310896"/>
          </a:xfrm>
          <a:prstGeom prst="rect">
            <a:avLst/>
          </a:prstGeom>
          <a:solidFill>
            <a:srgbClr val="1B2B5E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892040" y="3986784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~14–18 eng-months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6492240" y="3950208"/>
            <a:ext cx="1097280" cy="310896"/>
          </a:xfrm>
          <a:prstGeom prst="rect">
            <a:avLst/>
          </a:prstGeom>
          <a:solidFill>
            <a:srgbClr val="1B2B5E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537960" y="398678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7589520" y="3950208"/>
            <a:ext cx="3200400" cy="310896"/>
          </a:xfrm>
          <a:prstGeom prst="rect">
            <a:avLst/>
          </a:prstGeom>
          <a:solidFill>
            <a:srgbClr val="1B2B5E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7635240" y="398678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End state: Enterprise-ready SaaS</a:t>
            </a:r>
            <a:endParaRPr lang="en-US" sz="850" dirty="0"/>
          </a:p>
        </p:txBody>
      </p:sp>
      <p:sp>
        <p:nvSpPr>
          <p:cNvPr id="124" name="Text 122"/>
          <p:cNvSpPr/>
          <p:nvPr/>
        </p:nvSpPr>
        <p:spPr>
          <a:xfrm>
            <a:off x="182880" y="4251960"/>
            <a:ext cx="1121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* Effort estimates assume a senior full-stack engineer per unit. Phases can be parallelized with additional engineers.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B2B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&amp; Mitigation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822960"/>
            <a:ext cx="1146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across the 8-phase roadmap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822960" cy="384048"/>
          </a:xfrm>
          <a:prstGeom prst="rect">
            <a:avLst/>
          </a:prstGeom>
          <a:solidFill>
            <a:srgbClr val="FADBD8"/>
          </a:solidFill>
          <a:ln w="12700">
            <a:solidFill>
              <a:srgbClr val="FADB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789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</a:rPr>
              <a:t>High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43000" y="1005840"/>
            <a:ext cx="914400" cy="384048"/>
          </a:xfrm>
          <a:prstGeom prst="rect">
            <a:avLst/>
          </a:prstGeom>
          <a:solidFill>
            <a:srgbClr val="E8EBF4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07899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B5E"/>
                </a:solidFill>
              </a:rPr>
              <a:t>Phase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148840" y="10424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7"/>
                </a:solidFill>
              </a:rPr>
              <a:t>Auth middleware regression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897880" y="104241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→  Full integration test suite covering all /api routes before and after auth middleware is mounted.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8600" y="1463040"/>
            <a:ext cx="822960" cy="384048"/>
          </a:xfrm>
          <a:prstGeom prst="rect">
            <a:avLst/>
          </a:prstGeom>
          <a:solidFill>
            <a:srgbClr val="FADBD8"/>
          </a:solidFill>
          <a:ln w="12700">
            <a:solidFill>
              <a:srgbClr val="FADB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5361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</a:rPr>
              <a:t>High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143000" y="1463040"/>
            <a:ext cx="914400" cy="384048"/>
          </a:xfrm>
          <a:prstGeom prst="rect">
            <a:avLst/>
          </a:prstGeom>
          <a:solidFill>
            <a:srgbClr val="E8EBF4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153619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B5E"/>
                </a:solidFill>
              </a:rPr>
              <a:t>Phase 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148840" y="14996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7"/>
                </a:solidFill>
              </a:rPr>
              <a:t>Settings migration (single row → per-user)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97880" y="149961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→  Data migration script with rollback. Test against production snapshot in staging before deploy.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1920240"/>
            <a:ext cx="822960" cy="384048"/>
          </a:xfrm>
          <a:prstGeom prst="rect">
            <a:avLst/>
          </a:prstGeom>
          <a:solidFill>
            <a:srgbClr val="FADBD8"/>
          </a:solidFill>
          <a:ln w="12700">
            <a:solidFill>
              <a:srgbClr val="FADB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19933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</a:rPr>
              <a:t>High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143000" y="1920240"/>
            <a:ext cx="914400" cy="384048"/>
          </a:xfrm>
          <a:prstGeom prst="rect">
            <a:avLst/>
          </a:prstGeom>
          <a:solidFill>
            <a:srgbClr val="E8EBF4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199339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B5E"/>
                </a:solidFill>
              </a:rPr>
              <a:t>Phase 3.5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148840" y="19568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7"/>
                </a:solidFill>
              </a:rPr>
              <a:t>Permission middleware logic error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897880" y="195681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→  Unit test matrix: every role × every action × expected HTTP status. 100% coverage required.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8600" y="2377440"/>
            <a:ext cx="82296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2450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7E22"/>
                </a:solidFill>
              </a:rPr>
              <a:t>Medium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143000" y="2377440"/>
            <a:ext cx="914400" cy="384048"/>
          </a:xfrm>
          <a:prstGeom prst="rect">
            <a:avLst/>
          </a:prstGeom>
          <a:solidFill>
            <a:srgbClr val="E8EBF4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245059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B5E"/>
                </a:solidFill>
              </a:rPr>
              <a:t>Phase 2.5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148840" y="24140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7"/>
                </a:solidFill>
              </a:rPr>
              <a:t>file-type ESM compatibility with esbuild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897880" y="241401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→  Use dynamic import() or pin to a CJS-compatible version. Verify bundle output before deploy.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2834640"/>
            <a:ext cx="82296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29077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7E22"/>
                </a:solidFill>
              </a:rPr>
              <a:t>Medium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143000" y="2834640"/>
            <a:ext cx="914400" cy="384048"/>
          </a:xfrm>
          <a:prstGeom prst="rect">
            <a:avLst/>
          </a:prstGeom>
          <a:solidFill>
            <a:srgbClr val="E8EBF4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" y="290779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B5E"/>
                </a:solidFill>
              </a:rPr>
              <a:t>Phase 4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148840" y="28712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7"/>
                </a:solidFill>
              </a:rPr>
              <a:t>Prompt DB migration alters default behavior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897880" y="287121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→  Seed DB with current .txt file content as immutable defaults. User overrides are separate records.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28600" y="3291840"/>
            <a:ext cx="822960" cy="384048"/>
          </a:xfrm>
          <a:prstGeom prst="rect">
            <a:avLst/>
          </a:prstGeom>
          <a:solidFill>
            <a:srgbClr val="FADBD8"/>
          </a:solidFill>
          <a:ln w="12700">
            <a:solidFill>
              <a:srgbClr val="FADB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33649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</a:rPr>
              <a:t>High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143000" y="3291840"/>
            <a:ext cx="914400" cy="384048"/>
          </a:xfrm>
          <a:prstGeom prst="rect">
            <a:avLst/>
          </a:prstGeom>
          <a:solidFill>
            <a:srgbClr val="E8EBF4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43000" y="336499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B5E"/>
                </a:solidFill>
              </a:rPr>
              <a:t>Phase 5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148840" y="33284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7"/>
                </a:solidFill>
              </a:rPr>
              <a:t>Traceability NLP accuracy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897880" y="332841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→  Validate against 50 real requirement samples before release. Surface confidence score to users.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8600" y="3749040"/>
            <a:ext cx="822960" cy="384048"/>
          </a:xfrm>
          <a:prstGeom prst="rect">
            <a:avLst/>
          </a:prstGeom>
          <a:solidFill>
            <a:srgbClr val="FADBD8"/>
          </a:solidFill>
          <a:ln w="12700">
            <a:solidFill>
              <a:srgbClr val="FADB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38221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</a:rPr>
              <a:t>High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143000" y="3749040"/>
            <a:ext cx="914400" cy="384048"/>
          </a:xfrm>
          <a:prstGeom prst="rect">
            <a:avLst/>
          </a:prstGeom>
          <a:solidFill>
            <a:srgbClr val="E8EBF4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43000" y="382219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B5E"/>
                </a:solidFill>
              </a:rPr>
              <a:t>Phase 6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148840" y="37856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7"/>
                </a:solidFill>
              </a:rPr>
              <a:t>Phase 6 scope (14 weeks) — schedule risk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897880" y="378561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→  Phase 6 is 6 independently deliverable pillars. Scope by pillar, not as a monolithic release.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Next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0" y="1170432"/>
            <a:ext cx="5943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411480" cy="3931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26464"/>
            <a:ext cx="411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61872" y="13990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Approve roadmap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61872" y="1591056"/>
            <a:ext cx="9875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B4C8"/>
                </a:solidFill>
              </a:rPr>
              <a:t>Confirm phase sequence and resource allocation with engineering leadership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411480" cy="3931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29384"/>
            <a:ext cx="411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61872" y="19019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Assign Phase 1 engineer(s)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61872" y="2093976"/>
            <a:ext cx="9875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B4C8"/>
                </a:solidFill>
              </a:rPr>
              <a:t>Phase 1 is 3 weeks — can begin immediately on the v0.1.0 codebase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411480" cy="3931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432304"/>
            <a:ext cx="411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61872" y="24048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Define sprint ceremonies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61872" y="2596896"/>
            <a:ext cx="9875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B4C8"/>
                </a:solidFill>
              </a:rPr>
              <a:t>Each phase maps to 1–2 sprint cycles; establish sprint review gates per phase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2880360"/>
            <a:ext cx="411480" cy="3931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935224"/>
            <a:ext cx="411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61872" y="29077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Establish acceptance criteria sign-off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61872" y="3099816"/>
            <a:ext cx="9875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B4C8"/>
                </a:solidFill>
              </a:rPr>
              <a:t>Phase KPIs (in Summary Excel) become the Definition of Done for each phase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3383280"/>
            <a:ext cx="411480" cy="3931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438144"/>
            <a:ext cx="411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61872" y="341071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Plan Phase 2 security review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61872" y="3602736"/>
            <a:ext cx="9875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B4C8"/>
                </a:solidFill>
              </a:rPr>
              <a:t>Schedule a security review post-Phase 2 before external deployment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3886200"/>
            <a:ext cx="411480" cy="3931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941064"/>
            <a:ext cx="411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61872" y="39136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Scope Phase 6 by pillar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61872" y="4105656"/>
            <a:ext cx="9875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B4C8"/>
                </a:solidFill>
              </a:rPr>
              <a:t>Phase 6 is 14 weeks — assign pillar owners across the team before Phase 5 ends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4343400"/>
            <a:ext cx="1219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</a:rPr>
              <a:t>TraceLMs Cloud  ·  SaaS Roadmap v1.0  ·  June 25,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2453</Words>
  <Application>Microsoft Office PowerPoint</Application>
  <PresentationFormat>Widescreen</PresentationFormat>
  <Paragraphs>401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Ariel Cesar Abaoag</cp:lastModifiedBy>
  <cp:revision>5</cp:revision>
  <dcterms:created xsi:type="dcterms:W3CDTF">2026-06-25T01:35:48Z</dcterms:created>
  <dcterms:modified xsi:type="dcterms:W3CDTF">2026-06-25T01:43:37Z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ab519c6-9f13-416b-ad6c-a79673c31c3f_Enabled">
    <vt:lpwstr>true</vt:lpwstr>
  </property>
  <property fmtid="{D5CDD505-2E9C-101B-9397-08002B2CF9AE}" pid="3" name="MSIP_Label_1ab519c6-9f13-416b-ad6c-a79673c31c3f_SetDate">
    <vt:lpwstr>2026-06-25T01:37:05Z</vt:lpwstr>
  </property>
  <property fmtid="{D5CDD505-2E9C-101B-9397-08002B2CF9AE}" pid="4" name="MSIP_Label_1ab519c6-9f13-416b-ad6c-a79673c31c3f_Method">
    <vt:lpwstr>Privileged</vt:lpwstr>
  </property>
  <property fmtid="{D5CDD505-2E9C-101B-9397-08002B2CF9AE}" pid="5" name="MSIP_Label_1ab519c6-9f13-416b-ad6c-a79673c31c3f_Name">
    <vt:lpwstr>Company Confidential External Use</vt:lpwstr>
  </property>
  <property fmtid="{D5CDD505-2E9C-101B-9397-08002B2CF9AE}" pid="6" name="MSIP_Label_1ab519c6-9f13-416b-ad6c-a79673c31c3f_SiteId">
    <vt:lpwstr>edf442f5-b994-4c86-a131-b42b03a16c95</vt:lpwstr>
  </property>
  <property fmtid="{D5CDD505-2E9C-101B-9397-08002B2CF9AE}" pid="7" name="MSIP_Label_1ab519c6-9f13-416b-ad6c-a79673c31c3f_ActionId">
    <vt:lpwstr>ece07727-1075-43c0-81b1-d9eaf177b801</vt:lpwstr>
  </property>
  <property fmtid="{D5CDD505-2E9C-101B-9397-08002B2CF9AE}" pid="8" name="MSIP_Label_1ab519c6-9f13-416b-ad6c-a79673c31c3f_ContentBits">
    <vt:lpwstr>0</vt:lpwstr>
  </property>
</Properties>
</file>